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75" r:id="rId14"/>
    <p:sldId id="276" r:id="rId15"/>
    <p:sldId id="264" r:id="rId16"/>
    <p:sldId id="265" r:id="rId17"/>
    <p:sldId id="266" r:id="rId18"/>
    <p:sldId id="267" r:id="rId19"/>
    <p:sldId id="268" r:id="rId20"/>
    <p:sldId id="269" r:id="rId21"/>
    <p:sldId id="277" r:id="rId22"/>
    <p:sldId id="282" r:id="rId23"/>
    <p:sldId id="279" r:id="rId24"/>
    <p:sldId id="280" r:id="rId25"/>
    <p:sldId id="281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F0F0-66B7-8CF5-D2CD-67FF964D6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71127-C1F6-CB98-979F-5FA2C1D4C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E9861-CC48-AD2F-58E4-1FCFA514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E644-4BE9-C3B4-C2BF-DDB3B4DB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EF3FC-034F-87EF-C1FC-0D06024E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6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525A-0D83-B871-A436-5B86DAA2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E6F7-75E3-14F8-218E-F9B62A53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D4BD4-57E8-4859-4397-32826B51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9A8F9-A903-7822-0554-AF4F1AB3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977C0-88F7-494D-B95B-0A7EEDA5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CDA6-F060-97C9-5523-D14B8450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9A841-4C30-CE40-6B34-22821C82D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6230-477E-B1C0-19D1-2FDBDA8A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52AFE-13BB-48DC-4925-56770072B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C9B63-8893-1707-E6C3-0C28EBD7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0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27DE-A499-2622-2936-C30A2A41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12FCA-CC93-0974-3E72-C7D0741E6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12AB8-A507-91ED-CCC7-6754A1748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40FC8-3314-B557-954B-706B2162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03501-C335-BE65-703D-061DCF59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A487D-21BF-1866-276D-7C952E08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C81A-FAB5-9B44-E11D-128A3411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1C0B6-0E28-E573-0F8E-ACA7A784C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57544-2990-10A7-7AC1-BCEC25C21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CD992-29DD-12B5-DA14-D5D7C49B5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77055-C711-1D36-0ADE-2E7DDAD3D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F46B6-BA71-C619-5BE3-10A1CECC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2A662-0354-50BF-BA0B-D8BB7646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A547F-3EC4-77B2-8A23-03CCE897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6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CE4E-7CCB-6891-4776-E43EDCA7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8EB93-9940-EC7C-9DD5-9B012F54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C1E30-8E57-9027-A66E-38408B5B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7F0C4-162D-1AEE-2EB5-11F74BB7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CECE0-C42D-1CBF-3F20-DFA5822E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D5C38-5FFC-7E7D-828F-0D663323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F9AE-EE7A-CE20-334E-D12B0197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1458-2144-3388-9AF5-CB41AF85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322B7-3BCE-C365-46CE-359850073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C3A15-74F5-E28E-F4ED-65DD468EF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12E21-18CF-60B8-C183-B1BA7655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D44E4-9D63-427D-53BE-49E96D0F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FFF0F-1B3C-4BF3-C325-D5CB3CC9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3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46B7-D8CC-4E11-3014-5012F478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EE5DF5-C4E2-242D-5047-6B68C2B95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B7F38-12C5-FA42-1525-9B67DCDA7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D28EA-AB4C-0E62-C575-C03E8B71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CA0D0-B08C-02B0-EA75-910BF557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FDF49-C3D0-5015-AB2D-0AE433A1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9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64DC-430C-94FB-2029-D5C360EA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20B24-D01D-99CE-BC84-2A74487B7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EC4E-703A-29CD-5813-353A22DB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25854-EDBC-B8E0-370F-101C1574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AB384-0FD8-8DEE-56AD-A51A377F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1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597C3-DCD7-CC2C-9194-EF7110E19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EA5CA-EFBF-51D8-6544-C1A3DE3BF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81042-D579-9172-C25E-9F74DC02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3C52D-2711-12ED-724D-53A68E31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DBCD1-7AFB-90FB-76C7-906D5D12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4672E-C0AC-8FA4-016C-5A891D3B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783E2-B8F0-9089-BDDD-9F8289EC6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1003-9837-7A6C-2CC6-30F7C4468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B15D5-BC96-4CE4-BF87-20DC0854476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F5682-9B85-7AD4-90B0-CAC4EB0E7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50E7-B97F-AD7C-2199-0CD542C7D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DEC71-29A4-4DE0-8F28-2E77ADB2A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0698-C6D7-E128-0703-4DC9B2A27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- GitHub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6105B-5C13-5BE8-1BD0-8B29E806F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 @orgutier</a:t>
            </a:r>
          </a:p>
          <a:p>
            <a:endParaRPr lang="en-US" dirty="0"/>
          </a:p>
          <a:p>
            <a:r>
              <a:rPr lang="en-US" dirty="0"/>
              <a:t>Proprietary presentation from https://github.com/orgutier/GithubTraining </a:t>
            </a:r>
          </a:p>
        </p:txBody>
      </p:sp>
    </p:spTree>
    <p:extLst>
      <p:ext uri="{BB962C8B-B14F-4D97-AF65-F5344CB8AC3E}">
        <p14:creationId xmlns:p14="http://schemas.microsoft.com/office/powerpoint/2010/main" val="172641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CF90E-6E60-60FC-0ED0-7496B83A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Agenda part 1 - Fundamentals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7BB5037-14A4-4D8B-BB29-02F320362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59048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103749" y="1633159"/>
          <a:ext cx="9984501" cy="494119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54698">
                  <a:extLst>
                    <a:ext uri="{9D8B030D-6E8A-4147-A177-3AD203B41FA5}">
                      <a16:colId xmlns:a16="http://schemas.microsoft.com/office/drawing/2014/main" val="4052102813"/>
                    </a:ext>
                  </a:extLst>
                </a:gridCol>
                <a:gridCol w="7729803">
                  <a:extLst>
                    <a:ext uri="{9D8B030D-6E8A-4147-A177-3AD203B41FA5}">
                      <a16:colId xmlns:a16="http://schemas.microsoft.com/office/drawing/2014/main" val="259098471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Why and what is git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836443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Git use case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579879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Git staging area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62176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Git commits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910046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Git tree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915978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Git branches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075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7FBF69DC-BF4C-4DFC-26F8-2126D7AA0D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7783530"/>
                  </p:ext>
                </p:extLst>
              </p:nvPr>
            </p:nvGraphicFramePr>
            <p:xfrm>
              <a:off x="-1901687" y="3820767"/>
              <a:ext cx="3048000" cy="1714500"/>
            </p:xfrm>
            <a:graphic>
              <a:graphicData uri="http://schemas.microsoft.com/office/powerpoint/2016/slidezoom">
                <pslz:sldZm>
                  <pslz:sldZmObj sldId="259" cId="3501372094">
                    <pslz:zmPr id="{A70BC027-DD83-40CE-99F4-B8E8D455970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FBF69DC-BF4C-4DFC-26F8-2126D7AA0D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01687" y="3820767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11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2792-E9D2-61A2-F71A-CD826725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01 - Why and what is git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AF2B1-C288-9CA9-4FD4-AB725456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517878" cy="3400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6002FE-F546-6A47-B2C5-AF49D14E0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277" y="1694393"/>
            <a:ext cx="4517878" cy="34211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B54A3DF-10B3-22A4-6868-8C262D05639A}"/>
              </a:ext>
            </a:extLst>
          </p:cNvPr>
          <p:cNvSpPr/>
          <p:nvPr/>
        </p:nvSpPr>
        <p:spPr>
          <a:xfrm>
            <a:off x="2209846" y="4147862"/>
            <a:ext cx="2060029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A6100D-6E4E-6C1D-6518-90BBE8A903D8}"/>
              </a:ext>
            </a:extLst>
          </p:cNvPr>
          <p:cNvSpPr/>
          <p:nvPr/>
        </p:nvSpPr>
        <p:spPr>
          <a:xfrm>
            <a:off x="8173324" y="4147862"/>
            <a:ext cx="2060029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9852B1-4648-91EE-4B8D-86392AC6C35A}"/>
              </a:ext>
            </a:extLst>
          </p:cNvPr>
          <p:cNvCxnSpPr>
            <a:stCxn id="12" idx="3"/>
          </p:cNvCxnSpPr>
          <p:nvPr/>
        </p:nvCxnSpPr>
        <p:spPr>
          <a:xfrm flipV="1">
            <a:off x="4269875" y="4226902"/>
            <a:ext cx="3903449" cy="3005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300575-5737-9289-AFCA-9200446AFFA1}"/>
              </a:ext>
            </a:extLst>
          </p:cNvPr>
          <p:cNvSpPr txBox="1"/>
          <p:nvPr/>
        </p:nvSpPr>
        <p:spPr>
          <a:xfrm>
            <a:off x="2716695" y="54309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dirty="0"/>
              <a:t>Your project has a configuration file, and someone decides to change a single parameter </a:t>
            </a:r>
          </a:p>
        </p:txBody>
      </p:sp>
    </p:spTree>
    <p:extLst>
      <p:ext uri="{BB962C8B-B14F-4D97-AF65-F5344CB8AC3E}">
        <p14:creationId xmlns:p14="http://schemas.microsoft.com/office/powerpoint/2010/main" val="182618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B1C6-E46B-ADE7-70D7-6ECA5580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01 - Why and what is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42380-B740-238B-9217-85419590E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Traceability questions</a:t>
            </a:r>
          </a:p>
          <a:p>
            <a:pPr lvl="1"/>
            <a:r>
              <a:rPr lang="en-US" dirty="0"/>
              <a:t>Who? – Author (Commit author)</a:t>
            </a:r>
          </a:p>
          <a:p>
            <a:pPr lvl="2"/>
            <a:r>
              <a:rPr lang="en-US" dirty="0"/>
              <a:t>Not to blame, but to know who to ask</a:t>
            </a:r>
          </a:p>
          <a:p>
            <a:pPr lvl="1"/>
            <a:r>
              <a:rPr lang="en-US" dirty="0"/>
              <a:t>What? – Change details (Commit diff)</a:t>
            </a:r>
          </a:p>
          <a:p>
            <a:pPr lvl="2"/>
            <a:r>
              <a:rPr lang="en-US" dirty="0"/>
              <a:t>Large clustered commits are harder to review and debug</a:t>
            </a:r>
          </a:p>
          <a:p>
            <a:pPr lvl="1"/>
            <a:r>
              <a:rPr lang="en-US" dirty="0"/>
              <a:t>Why? – Reason (Commit message)</a:t>
            </a:r>
          </a:p>
          <a:p>
            <a:pPr lvl="2"/>
            <a:r>
              <a:rPr lang="en-US" dirty="0"/>
              <a:t>Without context, modifications become risky to maintain</a:t>
            </a:r>
          </a:p>
          <a:p>
            <a:pPr lvl="1"/>
            <a:r>
              <a:rPr lang="en-US" dirty="0"/>
              <a:t>When? – Timestamp (Commit date)</a:t>
            </a:r>
          </a:p>
          <a:p>
            <a:pPr lvl="2"/>
            <a:r>
              <a:rPr lang="en-US" dirty="0"/>
              <a:t>Helps correlate changes with events, releases, or incidents</a:t>
            </a:r>
          </a:p>
          <a:p>
            <a:pPr lvl="1"/>
            <a:r>
              <a:rPr lang="en-US" dirty="0"/>
              <a:t>Where? – Position in history (Commit hash, Commit parents and Branch)</a:t>
            </a:r>
          </a:p>
          <a:p>
            <a:pPr lvl="2"/>
            <a:r>
              <a:rPr lang="en-US" dirty="0"/>
              <a:t>A change may exist in one branch but not another</a:t>
            </a:r>
          </a:p>
          <a:p>
            <a:endParaRPr lang="en-US" dirty="0"/>
          </a:p>
          <a:p>
            <a:r>
              <a:rPr lang="en-US" u="sng" dirty="0"/>
              <a:t>Git stores project history as connected snapshots called commits.</a:t>
            </a:r>
          </a:p>
        </p:txBody>
      </p:sp>
    </p:spTree>
    <p:extLst>
      <p:ext uri="{BB962C8B-B14F-4D97-AF65-F5344CB8AC3E}">
        <p14:creationId xmlns:p14="http://schemas.microsoft.com/office/powerpoint/2010/main" val="350137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4B04-A62D-7BE2-96AE-77F27523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02 - Git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23FEE-C33C-7AA7-9ED7-30E44EEB0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370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Git is great for</a:t>
            </a:r>
          </a:p>
          <a:p>
            <a:pPr lvl="1"/>
            <a:r>
              <a:rPr lang="en-US" dirty="0"/>
              <a:t>*.xml</a:t>
            </a:r>
          </a:p>
          <a:p>
            <a:pPr lvl="1"/>
            <a:r>
              <a:rPr lang="en-US" dirty="0"/>
              <a:t>*.c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cpp</a:t>
            </a:r>
            <a:endParaRPr lang="en-US" dirty="0"/>
          </a:p>
          <a:p>
            <a:pPr lvl="1"/>
            <a:r>
              <a:rPr lang="en-US" dirty="0"/>
              <a:t>*.</a:t>
            </a:r>
            <a:r>
              <a:rPr lang="en-US" dirty="0" err="1"/>
              <a:t>py</a:t>
            </a:r>
            <a:endParaRPr lang="en-US" dirty="0"/>
          </a:p>
          <a:p>
            <a:pPr lvl="1"/>
            <a:r>
              <a:rPr lang="en-US" dirty="0"/>
              <a:t>*.</a:t>
            </a:r>
            <a:r>
              <a:rPr lang="en-US" dirty="0" err="1"/>
              <a:t>json</a:t>
            </a:r>
            <a:endParaRPr lang="en-US" dirty="0"/>
          </a:p>
          <a:p>
            <a:pPr lvl="1"/>
            <a:r>
              <a:rPr lang="en-US" dirty="0"/>
              <a:t>*.txt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asc</a:t>
            </a:r>
            <a:endParaRPr lang="en-US" dirty="0"/>
          </a:p>
          <a:p>
            <a:pPr lvl="1"/>
            <a:r>
              <a:rPr lang="en-US" dirty="0"/>
              <a:t>*.</a:t>
            </a:r>
            <a:r>
              <a:rPr lang="en-US" dirty="0" err="1"/>
              <a:t>sh</a:t>
            </a:r>
            <a:r>
              <a:rPr lang="en-US" dirty="0"/>
              <a:t>, *.bat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As long as the file is codified as text format </a:t>
            </a:r>
          </a:p>
          <a:p>
            <a:pPr lvl="1"/>
            <a:r>
              <a:rPr lang="en-US" dirty="0"/>
              <a:t>E.g. UTF-8, UTF-16, ISO-8859-1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2A4986-3E62-E87A-7AF7-27DDA8559B9F}"/>
              </a:ext>
            </a:extLst>
          </p:cNvPr>
          <p:cNvSpPr txBox="1">
            <a:spLocks/>
          </p:cNvSpPr>
          <p:nvPr/>
        </p:nvSpPr>
        <p:spPr>
          <a:xfrm>
            <a:off x="6600094" y="1825625"/>
            <a:ext cx="4753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Git is blind for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vbf</a:t>
            </a:r>
            <a:endParaRPr lang="en-US" dirty="0"/>
          </a:p>
          <a:p>
            <a:pPr lvl="1"/>
            <a:r>
              <a:rPr lang="en-US" dirty="0"/>
              <a:t>*.</a:t>
            </a:r>
            <a:r>
              <a:rPr lang="en-US" dirty="0" err="1"/>
              <a:t>blf</a:t>
            </a:r>
            <a:endParaRPr lang="en-US" dirty="0"/>
          </a:p>
          <a:p>
            <a:pPr lvl="1"/>
            <a:r>
              <a:rPr lang="en-US" dirty="0"/>
              <a:t>*.exe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msi</a:t>
            </a:r>
            <a:endParaRPr lang="en-US" dirty="0"/>
          </a:p>
          <a:p>
            <a:pPr lvl="1"/>
            <a:r>
              <a:rPr lang="en-US" dirty="0"/>
              <a:t>*.bin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Non-text files such as artifacts, executables and binary files</a:t>
            </a:r>
          </a:p>
        </p:txBody>
      </p:sp>
    </p:spTree>
    <p:extLst>
      <p:ext uri="{BB962C8B-B14F-4D97-AF65-F5344CB8AC3E}">
        <p14:creationId xmlns:p14="http://schemas.microsoft.com/office/powerpoint/2010/main" val="284665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B090-E398-941F-61BB-BB89A17EE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– Git use case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7980E0-C00C-5008-FBE1-69BDC3A2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45" y="4218705"/>
            <a:ext cx="8965076" cy="22327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5DBF4-5E93-08A0-193E-7F8C3AE70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470" y="204098"/>
            <a:ext cx="4017701" cy="3853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1CDA2F-5889-2483-5E5A-BA4295CC6F91}"/>
              </a:ext>
            </a:extLst>
          </p:cNvPr>
          <p:cNvSpPr txBox="1"/>
          <p:nvPr/>
        </p:nvSpPr>
        <p:spPr>
          <a:xfrm>
            <a:off x="2209545" y="2104218"/>
            <a:ext cx="45755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When you modify a line in a text file, git considers you deleted and added a new 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DD5B86-3245-B983-6C96-F9B43F30BE4E}"/>
              </a:ext>
            </a:extLst>
          </p:cNvPr>
          <p:cNvSpPr/>
          <p:nvPr/>
        </p:nvSpPr>
        <p:spPr>
          <a:xfrm>
            <a:off x="8919210" y="494116"/>
            <a:ext cx="2122170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81314B-A9E7-5672-CB7A-EDD7B17E8AF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497329" y="3119881"/>
            <a:ext cx="1141471" cy="14379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AEC173-D3A7-8FF0-EAA0-FF856FAC0B4B}"/>
              </a:ext>
            </a:extLst>
          </p:cNvPr>
          <p:cNvSpPr/>
          <p:nvPr/>
        </p:nvSpPr>
        <p:spPr>
          <a:xfrm>
            <a:off x="8919210" y="809718"/>
            <a:ext cx="2122170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BA7497-DDE1-97B7-8639-2394905C9580}"/>
              </a:ext>
            </a:extLst>
          </p:cNvPr>
          <p:cNvSpPr/>
          <p:nvPr/>
        </p:nvSpPr>
        <p:spPr>
          <a:xfrm>
            <a:off x="1906528" y="4557878"/>
            <a:ext cx="6963151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3FCBC2-9212-5635-6CD4-6243DB17FD95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785113" y="603210"/>
            <a:ext cx="2134097" cy="20088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275380-6A53-AA7A-036E-5A061AE4CD75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6785113" y="918812"/>
            <a:ext cx="2134097" cy="16932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68B8401-3F4F-A02E-2AE0-1BE7EEEE139E}"/>
              </a:ext>
            </a:extLst>
          </p:cNvPr>
          <p:cNvSpPr txBox="1"/>
          <p:nvPr/>
        </p:nvSpPr>
        <p:spPr>
          <a:xfrm>
            <a:off x="9772139" y="4057678"/>
            <a:ext cx="2538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&gt; git diff &lt;file&gt;</a:t>
            </a:r>
          </a:p>
        </p:txBody>
      </p:sp>
    </p:spTree>
    <p:extLst>
      <p:ext uri="{BB962C8B-B14F-4D97-AF65-F5344CB8AC3E}">
        <p14:creationId xmlns:p14="http://schemas.microsoft.com/office/powerpoint/2010/main" val="84585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53CC3-359C-0843-1FF7-49A74925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9F28-B58C-3908-C0A7-6A325449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– Git use case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957E2A-6CA7-3187-A86E-D1093E88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44" y="4218705"/>
            <a:ext cx="8965076" cy="22327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338488-645B-EE35-3A51-9286FD772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470" y="204098"/>
            <a:ext cx="4017701" cy="3853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0FA74A-B489-72BD-54F5-6925942B7AF7}"/>
              </a:ext>
            </a:extLst>
          </p:cNvPr>
          <p:cNvSpPr txBox="1"/>
          <p:nvPr/>
        </p:nvSpPr>
        <p:spPr>
          <a:xfrm>
            <a:off x="2209545" y="2104218"/>
            <a:ext cx="45755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If you move one line to another place in the same file, git will consider you deleted it and you created a new 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BFEE8C-DB37-B379-FDD3-5007216781B8}"/>
              </a:ext>
            </a:extLst>
          </p:cNvPr>
          <p:cNvSpPr/>
          <p:nvPr/>
        </p:nvSpPr>
        <p:spPr>
          <a:xfrm>
            <a:off x="8946831" y="655282"/>
            <a:ext cx="2286954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3A47E6-C39A-FE93-D149-F01F294FC2A2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flipH="1">
            <a:off x="3014474" y="3119881"/>
            <a:ext cx="1482855" cy="16066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A2B3B79-F59D-1CE9-BA6E-B32790AA3336}"/>
              </a:ext>
            </a:extLst>
          </p:cNvPr>
          <p:cNvSpPr/>
          <p:nvPr/>
        </p:nvSpPr>
        <p:spPr>
          <a:xfrm>
            <a:off x="8898254" y="1068812"/>
            <a:ext cx="2219325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0B70CA-7090-1493-119D-A4338503881B}"/>
              </a:ext>
            </a:extLst>
          </p:cNvPr>
          <p:cNvSpPr/>
          <p:nvPr/>
        </p:nvSpPr>
        <p:spPr>
          <a:xfrm>
            <a:off x="1921768" y="4726536"/>
            <a:ext cx="2185411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49067C-F846-F3B9-0611-58D05CE45135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785113" y="764376"/>
            <a:ext cx="2161718" cy="18476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B1A4ED-DD35-FA98-5EA9-2E4568E602F2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6785113" y="1177906"/>
            <a:ext cx="2113141" cy="143414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5623EF-7D74-916D-6D8D-ABE8D3AC8F1C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>
          <a:xfrm>
            <a:off x="4497329" y="3119881"/>
            <a:ext cx="3464430" cy="19836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437FBA3-CC13-694D-EA09-C4783FE32D37}"/>
              </a:ext>
            </a:extLst>
          </p:cNvPr>
          <p:cNvSpPr/>
          <p:nvPr/>
        </p:nvSpPr>
        <p:spPr>
          <a:xfrm>
            <a:off x="6869053" y="5103498"/>
            <a:ext cx="2185411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E1B1-6F75-8DB2-AB3E-55CD49A1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746E-9C6D-AF6C-A423-71752B26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– Git use case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8F0155-58E1-0837-E91D-6F25746D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938" y="889233"/>
            <a:ext cx="5901217" cy="56601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D77487-6E1B-2928-E56F-E67CADA9450F}"/>
              </a:ext>
            </a:extLst>
          </p:cNvPr>
          <p:cNvSpPr txBox="1"/>
          <p:nvPr/>
        </p:nvSpPr>
        <p:spPr>
          <a:xfrm>
            <a:off x="544534" y="2648593"/>
            <a:ext cx="4575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Git primarily represents modifications as line deletions and insertions. </a:t>
            </a:r>
            <a:r>
              <a:rPr lang="en-US" sz="2000" b="1" dirty="0"/>
              <a:t>(What)</a:t>
            </a:r>
            <a:r>
              <a:rPr lang="en-US" sz="2000" dirty="0"/>
              <a:t>, Some diff engines may be able to detect moves of blocks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2A78C3-38BF-0C63-2447-DF39D17DE849}"/>
              </a:ext>
            </a:extLst>
          </p:cNvPr>
          <p:cNvSpPr/>
          <p:nvPr/>
        </p:nvSpPr>
        <p:spPr>
          <a:xfrm>
            <a:off x="5961889" y="1337310"/>
            <a:ext cx="292608" cy="2426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5EA5B9-0F49-5D6E-CD4F-EC4A4347E152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5120102" y="2550795"/>
            <a:ext cx="841787" cy="7595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0C30F11-9A37-B6DF-7730-C9B9F0394DBC}"/>
              </a:ext>
            </a:extLst>
          </p:cNvPr>
          <p:cNvSpPr txBox="1"/>
          <p:nvPr/>
        </p:nvSpPr>
        <p:spPr>
          <a:xfrm>
            <a:off x="10515600" y="519901"/>
            <a:ext cx="1281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diff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0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AF3C-15A7-E998-940D-68E0C0CA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– Git staging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34AB1-555E-C108-599C-3237C59ED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825" y="2205284"/>
            <a:ext cx="6629975" cy="3086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B0F954-3C50-5D4B-E125-AFF35AA5DBD6}"/>
              </a:ext>
            </a:extLst>
          </p:cNvPr>
          <p:cNvSpPr txBox="1"/>
          <p:nvPr/>
        </p:nvSpPr>
        <p:spPr>
          <a:xfrm>
            <a:off x="6988933" y="375976"/>
            <a:ext cx="3220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 status provides details of what changes you are preparing to create a commit; this is not tracked unless you complete the commit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AE619-438F-12E0-EFCA-BF7001729CBD}"/>
              </a:ext>
            </a:extLst>
          </p:cNvPr>
          <p:cNvSpPr/>
          <p:nvPr/>
        </p:nvSpPr>
        <p:spPr>
          <a:xfrm>
            <a:off x="6988933" y="2245360"/>
            <a:ext cx="1008754" cy="215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FE755E-7158-69E4-0099-740F97341127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7997687" y="1853304"/>
            <a:ext cx="601386" cy="4998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B73EC33-2707-1767-89CE-8B4D2FD27518}"/>
              </a:ext>
            </a:extLst>
          </p:cNvPr>
          <p:cNvSpPr/>
          <p:nvPr/>
        </p:nvSpPr>
        <p:spPr>
          <a:xfrm>
            <a:off x="5446644" y="3454300"/>
            <a:ext cx="2216027" cy="467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5E2D2A-27B7-7BFC-E195-D734F3E3390F}"/>
              </a:ext>
            </a:extLst>
          </p:cNvPr>
          <p:cNvCxnSpPr>
            <a:cxnSpLocks/>
            <a:stCxn id="14" idx="3"/>
            <a:endCxn id="10" idx="1"/>
          </p:cNvCxnSpPr>
          <p:nvPr/>
        </p:nvCxnSpPr>
        <p:spPr>
          <a:xfrm flipV="1">
            <a:off x="4164960" y="3688252"/>
            <a:ext cx="1281684" cy="6554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D45412-82BC-3F98-3808-9542390904C5}"/>
              </a:ext>
            </a:extLst>
          </p:cNvPr>
          <p:cNvSpPr txBox="1"/>
          <p:nvPr/>
        </p:nvSpPr>
        <p:spPr>
          <a:xfrm>
            <a:off x="944681" y="3743559"/>
            <a:ext cx="3220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Files that have at least one active commit in history and are different from current 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F2A47C-B8CE-1D96-8CA2-D01F628B77E4}"/>
              </a:ext>
            </a:extLst>
          </p:cNvPr>
          <p:cNvSpPr/>
          <p:nvPr/>
        </p:nvSpPr>
        <p:spPr>
          <a:xfrm>
            <a:off x="4723825" y="2460927"/>
            <a:ext cx="1326455" cy="163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0FD1D1-8FC8-192C-FE95-7DF9EBB8143D}"/>
              </a:ext>
            </a:extLst>
          </p:cNvPr>
          <p:cNvSpPr/>
          <p:nvPr/>
        </p:nvSpPr>
        <p:spPr>
          <a:xfrm>
            <a:off x="4723824" y="2636897"/>
            <a:ext cx="4153476" cy="163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759CEA-0B73-3998-51C0-81998FDDE7E1}"/>
              </a:ext>
            </a:extLst>
          </p:cNvPr>
          <p:cNvSpPr txBox="1"/>
          <p:nvPr/>
        </p:nvSpPr>
        <p:spPr>
          <a:xfrm>
            <a:off x="902161" y="1649325"/>
            <a:ext cx="2895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Branch your HEAD is pointing at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4DDAE8-B9FC-7906-6BF0-26CC52E7E751}"/>
              </a:ext>
            </a:extLst>
          </p:cNvPr>
          <p:cNvSpPr txBox="1"/>
          <p:nvPr/>
        </p:nvSpPr>
        <p:spPr>
          <a:xfrm>
            <a:off x="1078945" y="2601780"/>
            <a:ext cx="2609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 to date from last fetch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DB4C375-6742-E239-C324-9FD0285F75FB}"/>
              </a:ext>
            </a:extLst>
          </p:cNvPr>
          <p:cNvCxnSpPr>
            <a:cxnSpLocks/>
            <a:stCxn id="30" idx="3"/>
            <a:endCxn id="22" idx="1"/>
          </p:cNvCxnSpPr>
          <p:nvPr/>
        </p:nvCxnSpPr>
        <p:spPr>
          <a:xfrm flipV="1">
            <a:off x="3688081" y="2718674"/>
            <a:ext cx="1035743" cy="2062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A2A434-EDF6-0E6C-06FC-23B3F49F27FF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3797809" y="1972491"/>
            <a:ext cx="926016" cy="5702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DB4768D-5121-C902-0E32-9D500579A030}"/>
              </a:ext>
            </a:extLst>
          </p:cNvPr>
          <p:cNvSpPr/>
          <p:nvPr/>
        </p:nvSpPr>
        <p:spPr>
          <a:xfrm>
            <a:off x="5446643" y="4342102"/>
            <a:ext cx="2654941" cy="233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88E489-8783-CAA9-DE65-21E851716B18}"/>
              </a:ext>
            </a:extLst>
          </p:cNvPr>
          <p:cNvSpPr txBox="1"/>
          <p:nvPr/>
        </p:nvSpPr>
        <p:spPr>
          <a:xfrm>
            <a:off x="1078945" y="5191462"/>
            <a:ext cx="3220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Files that do not have active commits in history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B41A77-B54B-0510-9FCE-9A68C1139469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 flipV="1">
            <a:off x="4299224" y="4459078"/>
            <a:ext cx="1147419" cy="10555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B57656F-3D55-6C84-EA2C-B8459C4CEA35}"/>
              </a:ext>
            </a:extLst>
          </p:cNvPr>
          <p:cNvSpPr txBox="1"/>
          <p:nvPr/>
        </p:nvSpPr>
        <p:spPr>
          <a:xfrm>
            <a:off x="9936481" y="5339778"/>
            <a:ext cx="141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status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65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1F432-40A3-E7C4-E94D-66660112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98C0-7664-853E-39BD-C2AD702D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– Git staging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EC05A-CBD9-064F-F679-D34DC9432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119" y="2027767"/>
            <a:ext cx="6576630" cy="33988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135FCC-7203-836B-B11C-635483DA5BA6}"/>
              </a:ext>
            </a:extLst>
          </p:cNvPr>
          <p:cNvSpPr/>
          <p:nvPr/>
        </p:nvSpPr>
        <p:spPr>
          <a:xfrm>
            <a:off x="6967915" y="2098977"/>
            <a:ext cx="1699835" cy="163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1CA1A-549C-ECE5-BA34-883B81ACF25C}"/>
              </a:ext>
            </a:extLst>
          </p:cNvPr>
          <p:cNvSpPr txBox="1"/>
          <p:nvPr/>
        </p:nvSpPr>
        <p:spPr>
          <a:xfrm>
            <a:off x="7382209" y="889731"/>
            <a:ext cx="289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 file to staging area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AD84C7-553C-2F46-5263-6AD889445974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flipH="1">
            <a:off x="7817833" y="1259063"/>
            <a:ext cx="1012200" cy="8399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95283A-1BE2-AA5A-0755-37F18AF9B1F6}"/>
              </a:ext>
            </a:extLst>
          </p:cNvPr>
          <p:cNvSpPr txBox="1"/>
          <p:nvPr/>
        </p:nvSpPr>
        <p:spPr>
          <a:xfrm>
            <a:off x="9482203" y="5426582"/>
            <a:ext cx="176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add &lt;file&gt;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C9742-5421-B827-43D0-B6A7E80FDAB4}"/>
              </a:ext>
            </a:extLst>
          </p:cNvPr>
          <p:cNvSpPr txBox="1"/>
          <p:nvPr/>
        </p:nvSpPr>
        <p:spPr>
          <a:xfrm>
            <a:off x="1234017" y="3244334"/>
            <a:ext cx="2895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Files in staging area prepared for potential commit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5CF57E-6E96-992C-C447-B460EB54DA20}"/>
              </a:ext>
            </a:extLst>
          </p:cNvPr>
          <p:cNvSpPr/>
          <p:nvPr/>
        </p:nvSpPr>
        <p:spPr>
          <a:xfrm>
            <a:off x="5399054" y="3491454"/>
            <a:ext cx="2072721" cy="222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604097-F9BB-6DC1-9AEA-E3834E94478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4129665" y="3607496"/>
            <a:ext cx="1269389" cy="9850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37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59B32-E0A9-3B1D-25FB-4679079F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7F3E-6094-FD3B-0CA1-E752F613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– Git staging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2EBF8-4B91-A531-1EEB-17BA48BC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566" y="1889768"/>
            <a:ext cx="6645216" cy="3635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4D84BE-5A4F-4581-BA2A-EF436EAEA90F}"/>
              </a:ext>
            </a:extLst>
          </p:cNvPr>
          <p:cNvSpPr txBox="1"/>
          <p:nvPr/>
        </p:nvSpPr>
        <p:spPr>
          <a:xfrm>
            <a:off x="8022921" y="5539237"/>
            <a:ext cx="3029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restore --staged &lt;File&gt;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0DE61-9F9C-F519-1B01-86E116EC5ABE}"/>
              </a:ext>
            </a:extLst>
          </p:cNvPr>
          <p:cNvSpPr/>
          <p:nvPr/>
        </p:nvSpPr>
        <p:spPr>
          <a:xfrm>
            <a:off x="6924074" y="2390809"/>
            <a:ext cx="2902594" cy="214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28208-2255-A132-BD66-6C552FA541EA}"/>
              </a:ext>
            </a:extLst>
          </p:cNvPr>
          <p:cNvSpPr txBox="1"/>
          <p:nvPr/>
        </p:nvSpPr>
        <p:spPr>
          <a:xfrm>
            <a:off x="7338368" y="680521"/>
            <a:ext cx="3226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Removes file from staging without modifying the file itself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3F0622-4296-B2FF-2CE4-2085648F02EE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8375371" y="1326852"/>
            <a:ext cx="576412" cy="10639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F928C4-917C-B1EC-E713-7EFF7675F317}"/>
              </a:ext>
            </a:extLst>
          </p:cNvPr>
          <p:cNvSpPr/>
          <p:nvPr/>
        </p:nvSpPr>
        <p:spPr>
          <a:xfrm>
            <a:off x="5310659" y="3957815"/>
            <a:ext cx="2186168" cy="214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71E805-5836-A224-CD25-2AF7A5A7767F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4165521" y="3634650"/>
            <a:ext cx="1145138" cy="4304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0E8524-6D1A-86D0-3B42-404DB3F13AA3}"/>
              </a:ext>
            </a:extLst>
          </p:cNvPr>
          <p:cNvSpPr txBox="1"/>
          <p:nvPr/>
        </p:nvSpPr>
        <p:spPr>
          <a:xfrm>
            <a:off x="938691" y="3311484"/>
            <a:ext cx="3226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 goes back to not staged area</a:t>
            </a:r>
          </a:p>
        </p:txBody>
      </p:sp>
    </p:spTree>
    <p:extLst>
      <p:ext uri="{BB962C8B-B14F-4D97-AF65-F5344CB8AC3E}">
        <p14:creationId xmlns:p14="http://schemas.microsoft.com/office/powerpoint/2010/main" val="385626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8024-D3C1-63ED-1FF2-D6E7D5618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1A2E6-F22D-490A-892C-502D1211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– Git staging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8CF58-217F-781B-2EC2-C262569E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345" y="1404848"/>
            <a:ext cx="7102455" cy="4922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11E63B-BFE0-E095-4AA5-1F6265895610}"/>
              </a:ext>
            </a:extLst>
          </p:cNvPr>
          <p:cNvSpPr txBox="1"/>
          <p:nvPr/>
        </p:nvSpPr>
        <p:spPr>
          <a:xfrm>
            <a:off x="9651304" y="6308209"/>
            <a:ext cx="176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add 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1D2C5-FEAF-73C5-0FC2-271AC4169609}"/>
              </a:ext>
            </a:extLst>
          </p:cNvPr>
          <p:cNvSpPr/>
          <p:nvPr/>
        </p:nvSpPr>
        <p:spPr>
          <a:xfrm>
            <a:off x="4941140" y="2849262"/>
            <a:ext cx="3833341" cy="579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88CCAF-C5DF-1FE1-BF42-7AD8FE63B098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3150296" y="2526097"/>
            <a:ext cx="1790844" cy="6130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B7CD8C-C347-2AC7-4CFD-DBD260123CE3}"/>
              </a:ext>
            </a:extLst>
          </p:cNvPr>
          <p:cNvSpPr txBox="1"/>
          <p:nvPr/>
        </p:nvSpPr>
        <p:spPr>
          <a:xfrm>
            <a:off x="569173" y="2202931"/>
            <a:ext cx="258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files in current directory not staged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3B7B0-48DA-EA10-62EA-7664FE9A6EB6}"/>
              </a:ext>
            </a:extLst>
          </p:cNvPr>
          <p:cNvSpPr/>
          <p:nvPr/>
        </p:nvSpPr>
        <p:spPr>
          <a:xfrm>
            <a:off x="6542030" y="1429082"/>
            <a:ext cx="942271" cy="214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DD655-1906-5939-9D74-0A8CB1A4E736}"/>
              </a:ext>
            </a:extLst>
          </p:cNvPr>
          <p:cNvSpPr txBox="1"/>
          <p:nvPr/>
        </p:nvSpPr>
        <p:spPr>
          <a:xfrm>
            <a:off x="7672485" y="381575"/>
            <a:ext cx="352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Adds all files in current directory to staging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B494B7-1E47-C299-DE36-9552A9AD3125}"/>
              </a:ext>
            </a:extLst>
          </p:cNvPr>
          <p:cNvCxnSpPr>
            <a:cxnSpLocks/>
            <a:stCxn id="12" idx="1"/>
            <a:endCxn id="11" idx="0"/>
          </p:cNvCxnSpPr>
          <p:nvPr/>
        </p:nvCxnSpPr>
        <p:spPr>
          <a:xfrm flipH="1">
            <a:off x="7013166" y="704741"/>
            <a:ext cx="659319" cy="72434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F731420-502B-3393-AB35-C79CDF056601}"/>
              </a:ext>
            </a:extLst>
          </p:cNvPr>
          <p:cNvSpPr/>
          <p:nvPr/>
        </p:nvSpPr>
        <p:spPr>
          <a:xfrm>
            <a:off x="6542030" y="3709579"/>
            <a:ext cx="4715692" cy="232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B326B1-E538-B5E7-3B62-3FB1D7DE8582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106002" y="3619357"/>
            <a:ext cx="3436028" cy="2198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A25F88-BA7B-68FE-9A7A-2DC9443BAE26}"/>
              </a:ext>
            </a:extLst>
          </p:cNvPr>
          <p:cNvSpPr txBox="1"/>
          <p:nvPr/>
        </p:nvSpPr>
        <p:spPr>
          <a:xfrm>
            <a:off x="524879" y="3296191"/>
            <a:ext cx="258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Remove those files you do not need to commit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A33744-373B-EC07-AAC2-09233DC23523}"/>
              </a:ext>
            </a:extLst>
          </p:cNvPr>
          <p:cNvSpPr/>
          <p:nvPr/>
        </p:nvSpPr>
        <p:spPr>
          <a:xfrm>
            <a:off x="4984979" y="5107683"/>
            <a:ext cx="2244082" cy="411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7EF6CA-F1CB-286B-16FA-33400DBDE36F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>
          <a:xfrm>
            <a:off x="3150296" y="5107683"/>
            <a:ext cx="1834683" cy="2059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B8B26AA-07F0-D7AB-1733-B3B15DBDA400}"/>
              </a:ext>
            </a:extLst>
          </p:cNvPr>
          <p:cNvSpPr txBox="1"/>
          <p:nvPr/>
        </p:nvSpPr>
        <p:spPr>
          <a:xfrm>
            <a:off x="569173" y="4784517"/>
            <a:ext cx="258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Confirm the files you want to commit</a:t>
            </a:r>
          </a:p>
        </p:txBody>
      </p:sp>
    </p:spTree>
    <p:extLst>
      <p:ext uri="{BB962C8B-B14F-4D97-AF65-F5344CB8AC3E}">
        <p14:creationId xmlns:p14="http://schemas.microsoft.com/office/powerpoint/2010/main" val="9674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E86A-0DEA-6D4B-824F-FEC63E79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03 – Git staging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CEF75-5420-4848-0A29-7B2A2FF81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516" y="2396650"/>
            <a:ext cx="6614733" cy="30635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AD4094-E5D6-6E28-1116-181942793F22}"/>
              </a:ext>
            </a:extLst>
          </p:cNvPr>
          <p:cNvSpPr/>
          <p:nvPr/>
        </p:nvSpPr>
        <p:spPr>
          <a:xfrm>
            <a:off x="5570619" y="3478740"/>
            <a:ext cx="2221660" cy="192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31534F-C0DB-871C-F2A1-F88144FBB373}"/>
              </a:ext>
            </a:extLst>
          </p:cNvPr>
          <p:cNvSpPr/>
          <p:nvPr/>
        </p:nvSpPr>
        <p:spPr>
          <a:xfrm>
            <a:off x="5570619" y="4499113"/>
            <a:ext cx="2221660" cy="253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B3402-6F37-11BD-51BB-AC86A6DCA9D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419323" y="3591384"/>
            <a:ext cx="2151296" cy="5078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4D78BD-980E-7EDB-B634-1F8ECB314033}"/>
              </a:ext>
            </a:extLst>
          </p:cNvPr>
          <p:cNvSpPr txBox="1"/>
          <p:nvPr/>
        </p:nvSpPr>
        <p:spPr>
          <a:xfrm>
            <a:off x="838200" y="2945053"/>
            <a:ext cx="2581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One file can be in staging and untracked section, that means you staged that file and then made another change. That new change relative to staging is the one untracked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0DF5AB-6DAE-6FF3-43D2-2019223CB78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3419323" y="4099215"/>
            <a:ext cx="2151296" cy="5268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350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7A10B0-69A1-D238-C8D2-54C4B38B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04 – Git commit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871CA-B304-66F7-A63F-08A04ECD6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70" y="2246406"/>
            <a:ext cx="9906859" cy="662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106A8E-7435-5DE3-DADE-2AE23421B8D6}"/>
              </a:ext>
            </a:extLst>
          </p:cNvPr>
          <p:cNvSpPr txBox="1"/>
          <p:nvPr/>
        </p:nvSpPr>
        <p:spPr>
          <a:xfrm>
            <a:off x="8043483" y="2966038"/>
            <a:ext cx="3094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commit –m “Message”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6E018-AC04-5A5B-96BD-E831748CF0A7}"/>
              </a:ext>
            </a:extLst>
          </p:cNvPr>
          <p:cNvSpPr/>
          <p:nvPr/>
        </p:nvSpPr>
        <p:spPr>
          <a:xfrm>
            <a:off x="1142570" y="2448657"/>
            <a:ext cx="1335835" cy="192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812254-5031-49F3-8000-9250D15EFBB5}"/>
              </a:ext>
            </a:extLst>
          </p:cNvPr>
          <p:cNvSpPr/>
          <p:nvPr/>
        </p:nvSpPr>
        <p:spPr>
          <a:xfrm>
            <a:off x="1241630" y="2640769"/>
            <a:ext cx="4450510" cy="192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F8D2E-89DB-9CF7-566E-57412CD5E6B8}"/>
              </a:ext>
            </a:extLst>
          </p:cNvPr>
          <p:cNvSpPr/>
          <p:nvPr/>
        </p:nvSpPr>
        <p:spPr>
          <a:xfrm>
            <a:off x="3405709" y="2266854"/>
            <a:ext cx="7561679" cy="192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2942F9-8327-92B3-3909-48DDC0512756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flipH="1">
            <a:off x="7186549" y="1690688"/>
            <a:ext cx="1124624" cy="5761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D87272-C4D6-71CD-8A5F-6794A6D80B1B}"/>
              </a:ext>
            </a:extLst>
          </p:cNvPr>
          <p:cNvSpPr txBox="1"/>
          <p:nvPr/>
        </p:nvSpPr>
        <p:spPr>
          <a:xfrm>
            <a:off x="6484697" y="490359"/>
            <a:ext cx="3652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Commit triggers the snapshot of the repository with the content of your stage, adding metadata for traceability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CCBC5-C873-D089-90BC-06817289C8DA}"/>
              </a:ext>
            </a:extLst>
          </p:cNvPr>
          <p:cNvSpPr txBox="1"/>
          <p:nvPr/>
        </p:nvSpPr>
        <p:spPr>
          <a:xfrm>
            <a:off x="838201" y="3593223"/>
            <a:ext cx="3349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[branch hash]</a:t>
            </a:r>
          </a:p>
          <a:p>
            <a:pPr algn="ctr"/>
            <a:r>
              <a:rPr lang="en-US" dirty="0"/>
              <a:t>Hash is a statistically unrepeatable id of your change, consider it a fingerprint of your commit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72BF9D-C53C-6C76-0D12-8192473E9423}"/>
              </a:ext>
            </a:extLst>
          </p:cNvPr>
          <p:cNvCxnSpPr>
            <a:cxnSpLocks/>
            <a:stCxn id="21" idx="1"/>
            <a:endCxn id="6" idx="1"/>
          </p:cNvCxnSpPr>
          <p:nvPr/>
        </p:nvCxnSpPr>
        <p:spPr>
          <a:xfrm flipV="1">
            <a:off x="838201" y="2577905"/>
            <a:ext cx="304369" cy="17539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613706-7F20-4EED-2373-51B308C0ED22}"/>
              </a:ext>
            </a:extLst>
          </p:cNvPr>
          <p:cNvSpPr txBox="1"/>
          <p:nvPr/>
        </p:nvSpPr>
        <p:spPr>
          <a:xfrm>
            <a:off x="5080638" y="3593223"/>
            <a:ext cx="2962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Details of what changed in your commit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C41601-3A47-F501-9404-9FAD87D180C3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5692140" y="2750247"/>
            <a:ext cx="869921" cy="8429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63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AC05-8889-202E-9FA4-32106C30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4BBC-D2A2-7C82-F6D6-97A5055B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04 – Git commit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481AA-113F-A507-DE0B-F8FDF26AA7A2}"/>
              </a:ext>
            </a:extLst>
          </p:cNvPr>
          <p:cNvSpPr txBox="1"/>
          <p:nvPr/>
        </p:nvSpPr>
        <p:spPr>
          <a:xfrm>
            <a:off x="6831166" y="702729"/>
            <a:ext cx="3126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Git diff will make a comparison within current Workspace and commit you provide</a:t>
            </a:r>
            <a:endParaRPr lang="en-US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9037D-5C50-2CB1-A838-ADDDCA27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563" y="2469436"/>
            <a:ext cx="6244702" cy="3486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2E1540-0C93-0A39-23C1-E78ED82A237C}"/>
              </a:ext>
            </a:extLst>
          </p:cNvPr>
          <p:cNvSpPr txBox="1"/>
          <p:nvPr/>
        </p:nvSpPr>
        <p:spPr>
          <a:xfrm>
            <a:off x="2070190" y="2305977"/>
            <a:ext cx="1453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Who</a:t>
            </a:r>
            <a:r>
              <a:rPr lang="en-US" sz="2000" dirty="0"/>
              <a:t>? </a:t>
            </a:r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FD6A3A-B9F0-971B-5F22-4B592E7F1A37}"/>
              </a:ext>
            </a:extLst>
          </p:cNvPr>
          <p:cNvSpPr txBox="1"/>
          <p:nvPr/>
        </p:nvSpPr>
        <p:spPr>
          <a:xfrm>
            <a:off x="2070190" y="2706087"/>
            <a:ext cx="1453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When</a:t>
            </a:r>
            <a:r>
              <a:rPr lang="en-US" sz="2000" dirty="0"/>
              <a:t>? </a:t>
            </a:r>
            <a:endParaRPr 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B3D35-E560-BB5E-FF31-1AFBD3DF820F}"/>
              </a:ext>
            </a:extLst>
          </p:cNvPr>
          <p:cNvSpPr txBox="1"/>
          <p:nvPr/>
        </p:nvSpPr>
        <p:spPr>
          <a:xfrm>
            <a:off x="2070190" y="3106197"/>
            <a:ext cx="1453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Why</a:t>
            </a:r>
            <a:r>
              <a:rPr lang="en-US" sz="2000" dirty="0"/>
              <a:t>? </a:t>
            </a:r>
            <a:endParaRPr lang="en-US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B553A-B4F4-42E8-6C50-0D2BFF1F614F}"/>
              </a:ext>
            </a:extLst>
          </p:cNvPr>
          <p:cNvSpPr txBox="1"/>
          <p:nvPr/>
        </p:nvSpPr>
        <p:spPr>
          <a:xfrm>
            <a:off x="2070190" y="1905867"/>
            <a:ext cx="1453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Where</a:t>
            </a:r>
            <a:r>
              <a:rPr lang="en-US" sz="2000" dirty="0"/>
              <a:t>? </a:t>
            </a:r>
            <a:endParaRPr lang="en-US" sz="20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44D86A-82D4-3449-5118-ED9BC64A47B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3523488" y="2105922"/>
            <a:ext cx="1726075" cy="7104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FB632CE-A505-9996-F632-0CD6351224F0}"/>
              </a:ext>
            </a:extLst>
          </p:cNvPr>
          <p:cNvSpPr/>
          <p:nvPr/>
        </p:nvSpPr>
        <p:spPr>
          <a:xfrm>
            <a:off x="5249563" y="2707233"/>
            <a:ext cx="610423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95C273-890D-FFB6-2009-3B7E10E6A584}"/>
              </a:ext>
            </a:extLst>
          </p:cNvPr>
          <p:cNvSpPr txBox="1"/>
          <p:nvPr/>
        </p:nvSpPr>
        <p:spPr>
          <a:xfrm>
            <a:off x="9363959" y="5919196"/>
            <a:ext cx="2538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&gt; git log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6C8CD2-3769-D720-F021-EDE38938D88B}"/>
              </a:ext>
            </a:extLst>
          </p:cNvPr>
          <p:cNvSpPr/>
          <p:nvPr/>
        </p:nvSpPr>
        <p:spPr>
          <a:xfrm>
            <a:off x="5249563" y="2925421"/>
            <a:ext cx="425257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0B5906-6F2E-EA89-6CE9-F700CC7F70B0}"/>
              </a:ext>
            </a:extLst>
          </p:cNvPr>
          <p:cNvSpPr/>
          <p:nvPr/>
        </p:nvSpPr>
        <p:spPr>
          <a:xfrm>
            <a:off x="5249563" y="3151326"/>
            <a:ext cx="377251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770895-8C44-B8FA-DB06-CA900F1B3AE0}"/>
              </a:ext>
            </a:extLst>
          </p:cNvPr>
          <p:cNvSpPr/>
          <p:nvPr/>
        </p:nvSpPr>
        <p:spPr>
          <a:xfrm>
            <a:off x="5631186" y="3474215"/>
            <a:ext cx="290736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C1C161-C8C5-2217-2153-7B2F9F75467C}"/>
              </a:ext>
            </a:extLst>
          </p:cNvPr>
          <p:cNvCxnSpPr>
            <a:cxnSpLocks/>
            <a:stCxn id="12" idx="3"/>
            <a:endCxn id="27" idx="1"/>
          </p:cNvCxnSpPr>
          <p:nvPr/>
        </p:nvCxnSpPr>
        <p:spPr>
          <a:xfrm>
            <a:off x="3523488" y="2506032"/>
            <a:ext cx="1726075" cy="5284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EB8275-E1CF-ED2E-9AA4-3522BF88FBAD}"/>
              </a:ext>
            </a:extLst>
          </p:cNvPr>
          <p:cNvCxnSpPr>
            <a:cxnSpLocks/>
            <a:stCxn id="13" idx="3"/>
            <a:endCxn id="28" idx="1"/>
          </p:cNvCxnSpPr>
          <p:nvPr/>
        </p:nvCxnSpPr>
        <p:spPr>
          <a:xfrm>
            <a:off x="3523488" y="2906142"/>
            <a:ext cx="1726075" cy="35427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1CF958-B741-76AB-D906-9F46110FB12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23488" y="3306252"/>
            <a:ext cx="2107698" cy="2913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921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C1BA-0026-78BC-F20E-7ADE377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C898-526C-6326-355A-77BA2886D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04 – Git commit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EC195-2816-DB2F-CEFB-BA9A641A409A}"/>
              </a:ext>
            </a:extLst>
          </p:cNvPr>
          <p:cNvSpPr txBox="1"/>
          <p:nvPr/>
        </p:nvSpPr>
        <p:spPr>
          <a:xfrm>
            <a:off x="1195505" y="3919490"/>
            <a:ext cx="3126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Git have many ways to provide metadata of changes, git diff, git log </a:t>
            </a:r>
            <a:r>
              <a:rPr lang="en-US" sz="2000" dirty="0" err="1"/>
              <a:t>etc</a:t>
            </a:r>
            <a:r>
              <a:rPr lang="en-US" sz="2000" dirty="0"/>
              <a:t>… (</a:t>
            </a:r>
            <a:r>
              <a:rPr lang="en-US" sz="2000" b="1" dirty="0"/>
              <a:t>What</a:t>
            </a:r>
            <a:r>
              <a:rPr lang="en-US" sz="2000" dirty="0"/>
              <a:t>)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E6BD1-BA59-43A0-B5BE-34C181B26A8B}"/>
              </a:ext>
            </a:extLst>
          </p:cNvPr>
          <p:cNvSpPr txBox="1"/>
          <p:nvPr/>
        </p:nvSpPr>
        <p:spPr>
          <a:xfrm>
            <a:off x="6096000" y="3657880"/>
            <a:ext cx="59022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diff &lt;Commit A&gt; &lt;Commit B&gt; &lt;File&gt;</a:t>
            </a:r>
            <a:endParaRPr lang="en-US" dirty="0"/>
          </a:p>
          <a:p>
            <a:r>
              <a:rPr lang="en-US" dirty="0"/>
              <a:t>What needs A to become B?</a:t>
            </a:r>
          </a:p>
          <a:p>
            <a:r>
              <a:rPr lang="en-US" dirty="0"/>
              <a:t>Option --stat gives a summary with no detailed diff per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36F45A-5CAF-B2BE-66F8-8954B8FB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90" y="2685805"/>
            <a:ext cx="8607619" cy="81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20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9CA2-0D91-8B7B-0453-88F106D7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05 – Git tree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9DB20-88AB-363E-9501-A938E1BF4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63" y="3664297"/>
            <a:ext cx="10721674" cy="205597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D9D6A0-4652-F436-521C-9E256BEAA048}"/>
              </a:ext>
            </a:extLst>
          </p:cNvPr>
          <p:cNvCxnSpPr>
            <a:cxnSpLocks/>
            <a:stCxn id="11" idx="1"/>
            <a:endCxn id="7" idx="0"/>
          </p:cNvCxnSpPr>
          <p:nvPr/>
        </p:nvCxnSpPr>
        <p:spPr>
          <a:xfrm flipH="1">
            <a:off x="2782262" y="2584529"/>
            <a:ext cx="988803" cy="13192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CA2AF76-A1A9-5A33-815D-D602E00ECD51}"/>
              </a:ext>
            </a:extLst>
          </p:cNvPr>
          <p:cNvSpPr/>
          <p:nvPr/>
        </p:nvSpPr>
        <p:spPr>
          <a:xfrm>
            <a:off x="1972963" y="3903769"/>
            <a:ext cx="161859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2D165-B930-282E-70EB-A2E18B397FA2}"/>
              </a:ext>
            </a:extLst>
          </p:cNvPr>
          <p:cNvSpPr txBox="1"/>
          <p:nvPr/>
        </p:nvSpPr>
        <p:spPr>
          <a:xfrm>
            <a:off x="3771065" y="2230586"/>
            <a:ext cx="3126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Parents - Where I come from</a:t>
            </a:r>
            <a:endParaRPr 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A9F918-6553-30BB-622F-8A34E1824BA5}"/>
              </a:ext>
            </a:extLst>
          </p:cNvPr>
          <p:cNvSpPr txBox="1"/>
          <p:nvPr/>
        </p:nvSpPr>
        <p:spPr>
          <a:xfrm>
            <a:off x="3771065" y="1450626"/>
            <a:ext cx="3126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Commit hash – Self id in history</a:t>
            </a:r>
            <a:endParaRPr lang="en-US" sz="20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92AD8D-408C-F16A-F4E4-A8DF224CDBF0}"/>
              </a:ext>
            </a:extLst>
          </p:cNvPr>
          <p:cNvSpPr/>
          <p:nvPr/>
        </p:nvSpPr>
        <p:spPr>
          <a:xfrm>
            <a:off x="1163665" y="3903769"/>
            <a:ext cx="764196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DB2B1B-3105-CD86-AD7A-F316698510C7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flipH="1">
            <a:off x="1545763" y="1804569"/>
            <a:ext cx="2225302" cy="2099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CB74CD5-F3F9-89E5-2CD2-F9AC9ADF6ADF}"/>
              </a:ext>
            </a:extLst>
          </p:cNvPr>
          <p:cNvSpPr/>
          <p:nvPr/>
        </p:nvSpPr>
        <p:spPr>
          <a:xfrm>
            <a:off x="781566" y="4484740"/>
            <a:ext cx="1172963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8ED0CA-28A5-DC5E-3004-F5C9312CFAB9}"/>
              </a:ext>
            </a:extLst>
          </p:cNvPr>
          <p:cNvSpPr/>
          <p:nvPr/>
        </p:nvSpPr>
        <p:spPr>
          <a:xfrm>
            <a:off x="959282" y="4266552"/>
            <a:ext cx="995248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1D3E33-384E-F3FB-3DA5-AC4F272E9F84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1954530" y="4121957"/>
            <a:ext cx="1165860" cy="253689"/>
          </a:xfrm>
          <a:prstGeom prst="straightConnector1">
            <a:avLst/>
          </a:prstGeom>
          <a:ln w="952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99DE6A-6D1D-7BD0-9055-3B6D84503FD2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954529" y="4177226"/>
            <a:ext cx="480061" cy="416608"/>
          </a:xfrm>
          <a:prstGeom prst="straightConnector1">
            <a:avLst/>
          </a:prstGeom>
          <a:ln w="9525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AB68E0C-854F-0830-5700-90C0D1A3D987}"/>
              </a:ext>
            </a:extLst>
          </p:cNvPr>
          <p:cNvSpPr txBox="1"/>
          <p:nvPr/>
        </p:nvSpPr>
        <p:spPr>
          <a:xfrm>
            <a:off x="6598996" y="5802003"/>
            <a:ext cx="609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log --graph --</a:t>
            </a:r>
            <a:r>
              <a:rPr lang="en-US" b="1" dirty="0" err="1"/>
              <a:t>oneline</a:t>
            </a:r>
            <a:r>
              <a:rPr lang="en-US" b="1" dirty="0"/>
              <a:t> --decorate --parents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357131-EBEF-497D-4A91-6444644721A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08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4EC1-0F4E-14BC-C5EA-0229E902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06 – Git branches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6CBBA-B353-1B52-37A2-8816CB0D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8" y="1690688"/>
            <a:ext cx="10721674" cy="205597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8FCBFE-C874-E40D-D689-93DB4A92FF55}"/>
              </a:ext>
            </a:extLst>
          </p:cNvPr>
          <p:cNvSpPr/>
          <p:nvPr/>
        </p:nvSpPr>
        <p:spPr>
          <a:xfrm>
            <a:off x="8553217" y="4186796"/>
            <a:ext cx="1318592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e48e149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A7AC09-EADB-D757-3CAA-E11BEAE56926}"/>
              </a:ext>
            </a:extLst>
          </p:cNvPr>
          <p:cNvSpPr/>
          <p:nvPr/>
        </p:nvSpPr>
        <p:spPr>
          <a:xfrm>
            <a:off x="6765002" y="4186796"/>
            <a:ext cx="1318592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f378b85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574B02-81B3-6362-25ED-CE5CB19787F8}"/>
              </a:ext>
            </a:extLst>
          </p:cNvPr>
          <p:cNvSpPr/>
          <p:nvPr/>
        </p:nvSpPr>
        <p:spPr>
          <a:xfrm>
            <a:off x="6765002" y="5018888"/>
            <a:ext cx="1318592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5ccc5b3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ACF41B-CD69-C2A2-5C67-B9F723ED25C7}"/>
              </a:ext>
            </a:extLst>
          </p:cNvPr>
          <p:cNvSpPr/>
          <p:nvPr/>
        </p:nvSpPr>
        <p:spPr>
          <a:xfrm>
            <a:off x="3171179" y="4186796"/>
            <a:ext cx="1318592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ddd5a9a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D9A1BA-333A-F6E8-A6E9-8690FF4AEA1A}"/>
              </a:ext>
            </a:extLst>
          </p:cNvPr>
          <p:cNvSpPr/>
          <p:nvPr/>
        </p:nvSpPr>
        <p:spPr>
          <a:xfrm>
            <a:off x="4965192" y="4186796"/>
            <a:ext cx="1318592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73722c1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D13C73-11B2-276F-5AF6-4736BC02EF44}"/>
              </a:ext>
            </a:extLst>
          </p:cNvPr>
          <p:cNvSpPr/>
          <p:nvPr/>
        </p:nvSpPr>
        <p:spPr>
          <a:xfrm>
            <a:off x="1377166" y="4186796"/>
            <a:ext cx="1318592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D7FAC0-483A-3CC7-9E7F-F1C0FDAF30AD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2695758" y="4425335"/>
            <a:ext cx="47542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480B44-31D9-A1DC-42C5-5111FABB235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489771" y="4425335"/>
            <a:ext cx="47542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7C9E06-5AEC-1143-E685-8D48B0F67281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6283784" y="4425335"/>
            <a:ext cx="48121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0DB665-B3C8-81DD-81B4-9AE6DD88D914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8083594" y="4425335"/>
            <a:ext cx="469623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B7C1D9-1BAE-8D25-E9BC-EFEAFCC44CE9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6283784" y="4425335"/>
            <a:ext cx="481218" cy="83209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D70DB7-BD0E-AAD4-D557-BC9195400EAB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8083594" y="4425335"/>
            <a:ext cx="469623" cy="83209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ABEB180-2046-3AC0-1E86-DD109F3EACFB}"/>
              </a:ext>
            </a:extLst>
          </p:cNvPr>
          <p:cNvSpPr txBox="1"/>
          <p:nvPr/>
        </p:nvSpPr>
        <p:spPr>
          <a:xfrm>
            <a:off x="8826830" y="5407152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490A7-22FE-328E-2429-AFAF49BBC274}"/>
              </a:ext>
            </a:extLst>
          </p:cNvPr>
          <p:cNvSpPr txBox="1"/>
          <p:nvPr/>
        </p:nvSpPr>
        <p:spPr>
          <a:xfrm>
            <a:off x="8869310" y="491933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69A90-5F77-5B51-72D4-F5EF70A48409}"/>
              </a:ext>
            </a:extLst>
          </p:cNvPr>
          <p:cNvSpPr txBox="1"/>
          <p:nvPr/>
        </p:nvSpPr>
        <p:spPr>
          <a:xfrm>
            <a:off x="6577623" y="5725949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source-context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112A2C-7726-1EDC-D4C3-AF8FACDDC1F8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flipV="1">
            <a:off x="7424298" y="5495966"/>
            <a:ext cx="0" cy="22998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53E8D9-53E3-EBB9-2ACE-030BF782CB0F}"/>
              </a:ext>
            </a:extLst>
          </p:cNvPr>
          <p:cNvCxnSpPr>
            <a:cxnSpLocks/>
          </p:cNvCxnSpPr>
          <p:nvPr/>
        </p:nvCxnSpPr>
        <p:spPr>
          <a:xfrm flipV="1">
            <a:off x="9208967" y="4689354"/>
            <a:ext cx="0" cy="22998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B0C24C-5384-F535-722C-154896FE6756}"/>
              </a:ext>
            </a:extLst>
          </p:cNvPr>
          <p:cNvCxnSpPr>
            <a:cxnSpLocks/>
          </p:cNvCxnSpPr>
          <p:nvPr/>
        </p:nvCxnSpPr>
        <p:spPr>
          <a:xfrm flipV="1">
            <a:off x="9208967" y="5177169"/>
            <a:ext cx="0" cy="22998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F095F7-7048-87C9-9365-21BB76FD6EDF}"/>
              </a:ext>
            </a:extLst>
          </p:cNvPr>
          <p:cNvSpPr txBox="1"/>
          <p:nvPr/>
        </p:nvSpPr>
        <p:spPr>
          <a:xfrm>
            <a:off x="2673716" y="5037820"/>
            <a:ext cx="231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origin/source-context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924FF9-7A1B-C49F-146A-EAC751B839DD}"/>
              </a:ext>
            </a:extLst>
          </p:cNvPr>
          <p:cNvSpPr txBox="1"/>
          <p:nvPr/>
        </p:nvSpPr>
        <p:spPr>
          <a:xfrm>
            <a:off x="3171179" y="5374287"/>
            <a:ext cx="1314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origin/main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980B33-D11B-4A4B-EA6B-4640A832F595}"/>
              </a:ext>
            </a:extLst>
          </p:cNvPr>
          <p:cNvCxnSpPr>
            <a:cxnSpLocks/>
          </p:cNvCxnSpPr>
          <p:nvPr/>
        </p:nvCxnSpPr>
        <p:spPr>
          <a:xfrm flipV="1">
            <a:off x="3554663" y="4726389"/>
            <a:ext cx="0" cy="37761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89D1EA-F6A3-2CE5-48C8-91E7F1037B26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828250" y="4726389"/>
            <a:ext cx="0" cy="647898"/>
          </a:xfrm>
          <a:prstGeom prst="straightConnector1">
            <a:avLst/>
          </a:prstGeom>
          <a:ln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ECFA35-FA05-7780-47DC-4BD629C75141}"/>
              </a:ext>
            </a:extLst>
          </p:cNvPr>
          <p:cNvSpPr txBox="1"/>
          <p:nvPr/>
        </p:nvSpPr>
        <p:spPr>
          <a:xfrm>
            <a:off x="8949340" y="59472"/>
            <a:ext cx="31260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 branch is a movable pointer to the latest commit in a line of history.</a:t>
            </a:r>
          </a:p>
          <a:p>
            <a:pPr algn="ctr"/>
            <a:r>
              <a:rPr lang="en-US" sz="2000" dirty="0"/>
              <a:t>Commits are immutable. Branches move</a:t>
            </a:r>
            <a:endParaRPr lang="en-US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C46B7C-5D6E-B40C-C76C-ACE14497A633}"/>
              </a:ext>
            </a:extLst>
          </p:cNvPr>
          <p:cNvSpPr txBox="1"/>
          <p:nvPr/>
        </p:nvSpPr>
        <p:spPr>
          <a:xfrm>
            <a:off x="264015" y="5352183"/>
            <a:ext cx="3126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origin/&lt;branch&gt;</a:t>
            </a:r>
          </a:p>
          <a:p>
            <a:pPr algn="ctr"/>
            <a:r>
              <a:rPr lang="en-US" sz="2000" dirty="0"/>
              <a:t>These represent the last known state of remote branches.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3FDC3C-18AD-05A4-EEE2-B25A5858DD5A}"/>
              </a:ext>
            </a:extLst>
          </p:cNvPr>
          <p:cNvSpPr txBox="1"/>
          <p:nvPr/>
        </p:nvSpPr>
        <p:spPr>
          <a:xfrm>
            <a:off x="9548625" y="5257427"/>
            <a:ext cx="23972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HEAD usually points to the currently active branch or commit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9C4E29F-FD04-D74F-1F3B-071B763AE3FD}"/>
              </a:ext>
            </a:extLst>
          </p:cNvPr>
          <p:cNvSpPr/>
          <p:nvPr/>
        </p:nvSpPr>
        <p:spPr>
          <a:xfrm>
            <a:off x="1943354" y="3804212"/>
            <a:ext cx="752404" cy="2918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Newer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522CE5A-A9E0-F53B-A018-DD1E737B1B12}"/>
              </a:ext>
            </a:extLst>
          </p:cNvPr>
          <p:cNvSpPr/>
          <p:nvPr/>
        </p:nvSpPr>
        <p:spPr>
          <a:xfrm>
            <a:off x="951097" y="3803523"/>
            <a:ext cx="752404" cy="2918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Older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51EB70-3897-F93F-46BB-4C8318DA4B0D}"/>
              </a:ext>
            </a:extLst>
          </p:cNvPr>
          <p:cNvCxnSpPr>
            <a:stCxn id="37" idx="3"/>
            <a:endCxn id="36" idx="1"/>
          </p:cNvCxnSpPr>
          <p:nvPr/>
        </p:nvCxnSpPr>
        <p:spPr>
          <a:xfrm>
            <a:off x="1703501" y="3949464"/>
            <a:ext cx="239853" cy="68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8B96103-56F1-9958-6D22-F068C5D9BB7F}"/>
              </a:ext>
            </a:extLst>
          </p:cNvPr>
          <p:cNvSpPr txBox="1"/>
          <p:nvPr/>
        </p:nvSpPr>
        <p:spPr>
          <a:xfrm>
            <a:off x="3840816" y="5850980"/>
            <a:ext cx="29241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Branches do not store commits. They only point to a commit.</a:t>
            </a:r>
          </a:p>
        </p:txBody>
      </p:sp>
    </p:spTree>
    <p:extLst>
      <p:ext uri="{BB962C8B-B14F-4D97-AF65-F5344CB8AC3E}">
        <p14:creationId xmlns:p14="http://schemas.microsoft.com/office/powerpoint/2010/main" val="834387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FC56-C90A-7E5D-8296-A1AB67BF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06 – Git branches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9C559-8E62-77F1-A77B-FF2653DEEA62}"/>
              </a:ext>
            </a:extLst>
          </p:cNvPr>
          <p:cNvSpPr txBox="1"/>
          <p:nvPr/>
        </p:nvSpPr>
        <p:spPr>
          <a:xfrm>
            <a:off x="8095447" y="1500188"/>
            <a:ext cx="3126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When HEAD points to a branch It will include the arrow to that branch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46BE32-B7C2-8F7C-B0F2-458258288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09" y="1570737"/>
            <a:ext cx="7257247" cy="1391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818C22-0144-622D-B136-8036B083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09" y="3563022"/>
            <a:ext cx="7257247" cy="14666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45E7F7-3330-AA9E-726E-2B085C6286CA}"/>
              </a:ext>
            </a:extLst>
          </p:cNvPr>
          <p:cNvSpPr txBox="1"/>
          <p:nvPr/>
        </p:nvSpPr>
        <p:spPr>
          <a:xfrm>
            <a:off x="8095447" y="3563022"/>
            <a:ext cx="3126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When HEAD points to a commit, it will be listed isolated in the branch 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4B7A0-5081-2F48-CF3A-DC94841B2D40}"/>
              </a:ext>
            </a:extLst>
          </p:cNvPr>
          <p:cNvSpPr/>
          <p:nvPr/>
        </p:nvSpPr>
        <p:spPr>
          <a:xfrm>
            <a:off x="2380519" y="3713871"/>
            <a:ext cx="862083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673410-4BDE-60E3-79FA-226E79583360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 flipV="1">
            <a:off x="3242602" y="3819379"/>
            <a:ext cx="4852845" cy="1591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BF789C-6B4E-07C4-8F21-F1D6E0A39A40}"/>
              </a:ext>
            </a:extLst>
          </p:cNvPr>
          <p:cNvSpPr/>
          <p:nvPr/>
        </p:nvSpPr>
        <p:spPr>
          <a:xfrm>
            <a:off x="2344959" y="1707010"/>
            <a:ext cx="1007841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920E81-86FD-BC00-8AB8-E48188309BE6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342640" y="1812518"/>
            <a:ext cx="4752807" cy="1031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3449BD90-01DC-9809-0169-3A4738FF4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09" y="5371345"/>
            <a:ext cx="7257247" cy="101967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94311ED-9140-36E1-2F26-0656646488D2}"/>
              </a:ext>
            </a:extLst>
          </p:cNvPr>
          <p:cNvSpPr/>
          <p:nvPr/>
        </p:nvSpPr>
        <p:spPr>
          <a:xfrm>
            <a:off x="1923829" y="5535168"/>
            <a:ext cx="590772" cy="221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E29932-17C2-B7AD-B3AA-5E749E7314E9}"/>
              </a:ext>
            </a:extLst>
          </p:cNvPr>
          <p:cNvCxnSpPr>
            <a:cxnSpLocks/>
            <a:stCxn id="29" idx="1"/>
            <a:endCxn id="24" idx="3"/>
          </p:cNvCxnSpPr>
          <p:nvPr/>
        </p:nvCxnSpPr>
        <p:spPr>
          <a:xfrm flipH="1" flipV="1">
            <a:off x="2514601" y="5646039"/>
            <a:ext cx="5580846" cy="277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DCB123A-51A4-C54A-1C5E-C8AAE5F2158A}"/>
              </a:ext>
            </a:extLst>
          </p:cNvPr>
          <p:cNvSpPr txBox="1"/>
          <p:nvPr/>
        </p:nvSpPr>
        <p:spPr>
          <a:xfrm>
            <a:off x="8095447" y="5135172"/>
            <a:ext cx="3126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HEAD can point to a commit that do not have a branch there, this use case helps to track past historic states of the repo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0CAD63-FA4E-6B9A-DB01-B48269EB8120}"/>
              </a:ext>
            </a:extLst>
          </p:cNvPr>
          <p:cNvSpPr txBox="1"/>
          <p:nvPr/>
        </p:nvSpPr>
        <p:spPr>
          <a:xfrm>
            <a:off x="8095447" y="243295"/>
            <a:ext cx="3126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When HEAD does not point to a branch, it is known as DETACHED HEAD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F011C297-158A-C429-3109-B7791F9CB083}"/>
              </a:ext>
            </a:extLst>
          </p:cNvPr>
          <p:cNvCxnSpPr>
            <a:stCxn id="34" idx="3"/>
            <a:endCxn id="10" idx="3"/>
          </p:cNvCxnSpPr>
          <p:nvPr/>
        </p:nvCxnSpPr>
        <p:spPr>
          <a:xfrm>
            <a:off x="11221503" y="658794"/>
            <a:ext cx="12700" cy="3319727"/>
          </a:xfrm>
          <a:prstGeom prst="curvedConnector3">
            <a:avLst>
              <a:gd name="adj1" fmla="val 366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F8AF3B3-5751-ADF2-D8CB-39B8E6EF054C}"/>
              </a:ext>
            </a:extLst>
          </p:cNvPr>
          <p:cNvCxnSpPr>
            <a:cxnSpLocks/>
            <a:stCxn id="34" idx="3"/>
            <a:endCxn id="29" idx="3"/>
          </p:cNvCxnSpPr>
          <p:nvPr/>
        </p:nvCxnSpPr>
        <p:spPr>
          <a:xfrm>
            <a:off x="11221503" y="658794"/>
            <a:ext cx="12700" cy="5014987"/>
          </a:xfrm>
          <a:prstGeom prst="curvedConnector3">
            <a:avLst>
              <a:gd name="adj1" fmla="val 402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93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9325-7D99-0D9A-C00A-4703FECB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06 - Git branches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4B0E0-C47D-EE53-8BF4-C34349D1F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96" y="1772336"/>
            <a:ext cx="9938424" cy="355404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839779-4788-67A5-168E-D92EF92C5EB9}"/>
              </a:ext>
            </a:extLst>
          </p:cNvPr>
          <p:cNvSpPr/>
          <p:nvPr/>
        </p:nvSpPr>
        <p:spPr>
          <a:xfrm>
            <a:off x="7377418" y="2041004"/>
            <a:ext cx="2107957" cy="4770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creation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320EFD-03AE-CE9D-7E66-94B3E208802A}"/>
              </a:ext>
            </a:extLst>
          </p:cNvPr>
          <p:cNvCxnSpPr>
            <a:cxnSpLocks/>
          </p:cNvCxnSpPr>
          <p:nvPr/>
        </p:nvCxnSpPr>
        <p:spPr>
          <a:xfrm flipH="1" flipV="1">
            <a:off x="5374640" y="2222671"/>
            <a:ext cx="2002778" cy="568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D9C334-5996-3A14-A017-7450D9F74CF6}"/>
              </a:ext>
            </a:extLst>
          </p:cNvPr>
          <p:cNvSpPr/>
          <p:nvPr/>
        </p:nvSpPr>
        <p:spPr>
          <a:xfrm>
            <a:off x="2968643" y="2113577"/>
            <a:ext cx="240599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9169E8-1AE4-0413-AF96-B5BB0C67A17B}"/>
              </a:ext>
            </a:extLst>
          </p:cNvPr>
          <p:cNvSpPr/>
          <p:nvPr/>
        </p:nvSpPr>
        <p:spPr>
          <a:xfrm>
            <a:off x="7377418" y="2617758"/>
            <a:ext cx="2107957" cy="576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upstream creation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F267D5-13FC-6BD0-3622-8B8B7CEA4F25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flipH="1" flipV="1">
            <a:off x="5871210" y="2673006"/>
            <a:ext cx="1506208" cy="2330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793C3BC-B919-5438-EBEE-4F1286A5E738}"/>
              </a:ext>
            </a:extLst>
          </p:cNvPr>
          <p:cNvSpPr/>
          <p:nvPr/>
        </p:nvSpPr>
        <p:spPr>
          <a:xfrm>
            <a:off x="2968643" y="2563912"/>
            <a:ext cx="2902567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467E0B-732A-1750-70CE-7879CF9F9097}"/>
              </a:ext>
            </a:extLst>
          </p:cNvPr>
          <p:cNvSpPr/>
          <p:nvPr/>
        </p:nvSpPr>
        <p:spPr>
          <a:xfrm>
            <a:off x="7377418" y="3495582"/>
            <a:ext cx="2107957" cy="576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 points to new branch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13E321-F8F7-9D1E-B703-C65A772A49F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021224" y="3783855"/>
            <a:ext cx="356194" cy="69060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1CF0708-AD6B-7E7C-6C6F-06C8D39EC3A3}"/>
              </a:ext>
            </a:extLst>
          </p:cNvPr>
          <p:cNvSpPr/>
          <p:nvPr/>
        </p:nvSpPr>
        <p:spPr>
          <a:xfrm>
            <a:off x="4913267" y="4373406"/>
            <a:ext cx="2115421" cy="218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F60E11-02C8-1B0A-EF20-F47756F9DB2C}"/>
              </a:ext>
            </a:extLst>
          </p:cNvPr>
          <p:cNvSpPr txBox="1"/>
          <p:nvPr/>
        </p:nvSpPr>
        <p:spPr>
          <a:xfrm>
            <a:off x="5744508" y="5373861"/>
            <a:ext cx="6094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&gt; git branch &lt;branch name&gt;</a:t>
            </a:r>
          </a:p>
          <a:p>
            <a:r>
              <a:rPr lang="en-US" b="1" dirty="0"/>
              <a:t>&gt; git checkout &lt;branch name&gt;</a:t>
            </a:r>
          </a:p>
          <a:p>
            <a:r>
              <a:rPr lang="en-US" b="1" dirty="0"/>
              <a:t>&gt; git push -u origin &lt;branch name&gt;</a:t>
            </a:r>
          </a:p>
        </p:txBody>
      </p:sp>
    </p:spTree>
    <p:extLst>
      <p:ext uri="{BB962C8B-B14F-4D97-AF65-F5344CB8AC3E}">
        <p14:creationId xmlns:p14="http://schemas.microsoft.com/office/powerpoint/2010/main" val="1549609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BAF2-E34F-ED9D-C0C0-0A008E55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07 - </a:t>
            </a:r>
            <a:r>
              <a:rPr lang="en-US" dirty="0" err="1"/>
              <a:t>Github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5FA04A-206E-62C9-610E-CBB630F5F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489009"/>
              </p:ext>
            </p:extLst>
          </p:nvPr>
        </p:nvGraphicFramePr>
        <p:xfrm>
          <a:off x="838200" y="2253383"/>
          <a:ext cx="10515600" cy="210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768682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817245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2896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Git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GitHub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08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Version Control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platform / Hosting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06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Where it runs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Your computer (local)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Cloud (github.com)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072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 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Track changes &amp; create commits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Collaboration &amp; Sharing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99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Commit, Branch, Merge, Staging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Pull Requests, Issues, Code Review,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735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60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DCB0-4DC7-F942-CAE7-88F44EA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07 -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FC703-A7F8-7B5A-DC14-CC65B35D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755" y="2026115"/>
            <a:ext cx="7035915" cy="326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44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DC03-837A-4680-5E91-0923BED4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07 -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18397-4333-ED75-1882-39034772B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99" y="487012"/>
            <a:ext cx="7205811" cy="600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F5B8-CB23-6F5A-D16A-08C340D9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07 -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408EB-A21E-50A7-D58C-E81DA0FF6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096" y="807591"/>
            <a:ext cx="7830531" cy="52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53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53F5-9E14-B4F0-BC1A-8AE16317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07 -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180E6-2949-6987-7662-BF93F5F4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611" y="120802"/>
            <a:ext cx="7576629" cy="661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9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ADD1-97A6-B1F4-666C-F789FAE8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1608-3F01-282B-516F-0BD472E6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43" y="1825625"/>
            <a:ext cx="11317357" cy="4351338"/>
          </a:xfrm>
        </p:spPr>
        <p:txBody>
          <a:bodyPr numCol="2">
            <a:normAutofit/>
          </a:bodyPr>
          <a:lstStyle/>
          <a:p>
            <a:r>
              <a:rPr lang="en-US" sz="2000" b="1" dirty="0"/>
              <a:t>Basic Commands</a:t>
            </a:r>
            <a:endParaRPr lang="en-US" sz="1600" dirty="0"/>
          </a:p>
          <a:p>
            <a:pPr lvl="1"/>
            <a:r>
              <a:rPr lang="en-US" sz="1600" dirty="0"/>
              <a:t>git status                  # Check current state</a:t>
            </a:r>
          </a:p>
          <a:p>
            <a:pPr lvl="1"/>
            <a:r>
              <a:rPr lang="en-US" sz="1600" dirty="0"/>
              <a:t>git add .                   # Stage all changes</a:t>
            </a:r>
          </a:p>
          <a:p>
            <a:pPr lvl="1"/>
            <a:r>
              <a:rPr lang="en-US" sz="1600" dirty="0"/>
              <a:t>git commit -m "message"     # Commit staged changes</a:t>
            </a:r>
          </a:p>
          <a:p>
            <a:pPr lvl="1"/>
            <a:r>
              <a:rPr lang="en-US" sz="1600" dirty="0"/>
              <a:t>git log --</a:t>
            </a:r>
            <a:r>
              <a:rPr lang="en-US" sz="1600" dirty="0" err="1"/>
              <a:t>oneline</a:t>
            </a:r>
            <a:r>
              <a:rPr lang="en-US" sz="1600" dirty="0"/>
              <a:t> --graph   # View history</a:t>
            </a:r>
          </a:p>
          <a:p>
            <a:r>
              <a:rPr lang="en-US" sz="2000" b="1" dirty="0"/>
              <a:t>Branching</a:t>
            </a:r>
            <a:endParaRPr lang="en-US" sz="1600" dirty="0"/>
          </a:p>
          <a:p>
            <a:pPr lvl="1"/>
            <a:r>
              <a:rPr lang="en-US" sz="1600" dirty="0"/>
              <a:t>git branch &lt;name&gt;           # Create branch</a:t>
            </a:r>
          </a:p>
          <a:p>
            <a:pPr lvl="1"/>
            <a:r>
              <a:rPr lang="en-US" sz="1600" dirty="0"/>
              <a:t>git checkout &lt;name&gt;         # Switch branch</a:t>
            </a:r>
          </a:p>
          <a:p>
            <a:pPr lvl="1"/>
            <a:r>
              <a:rPr lang="en-US" sz="1600" dirty="0"/>
              <a:t>git checkout -b &lt;name&gt;      # Create + switch</a:t>
            </a:r>
          </a:p>
          <a:p>
            <a:pPr lvl="1"/>
            <a:r>
              <a:rPr lang="en-US" sz="1600" dirty="0"/>
              <a:t>git push -u origin &lt;name&gt;   # Push + set upstream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Sync with GitHub</a:t>
            </a:r>
            <a:endParaRPr lang="en-US" sz="1600" dirty="0"/>
          </a:p>
          <a:p>
            <a:pPr lvl="1"/>
            <a:r>
              <a:rPr lang="en-US" sz="1600" dirty="0"/>
              <a:t>git clone                 # Download remote repo</a:t>
            </a:r>
          </a:p>
          <a:p>
            <a:pPr lvl="1"/>
            <a:r>
              <a:rPr lang="en-US" sz="1600" dirty="0"/>
              <a:t>git pull                    # Fetch + merge</a:t>
            </a:r>
          </a:p>
          <a:p>
            <a:pPr lvl="1"/>
            <a:r>
              <a:rPr lang="en-US" sz="1600" dirty="0"/>
              <a:t>git push                    # Upload changes</a:t>
            </a:r>
          </a:p>
          <a:p>
            <a:pPr lvl="1"/>
            <a:r>
              <a:rPr lang="en-US" sz="1600" dirty="0"/>
              <a:t>git fetch                   # Update remote info</a:t>
            </a:r>
          </a:p>
          <a:p>
            <a:r>
              <a:rPr lang="en-US" sz="2000" b="1" dirty="0"/>
              <a:t>Useful Extras</a:t>
            </a:r>
            <a:endParaRPr lang="en-US" sz="1600" dirty="0"/>
          </a:p>
          <a:p>
            <a:pPr lvl="1"/>
            <a:r>
              <a:rPr lang="en-US" sz="1600" dirty="0"/>
              <a:t>git restore --staged &lt;file&gt; # </a:t>
            </a:r>
            <a:r>
              <a:rPr lang="en-US" sz="1600" dirty="0" err="1"/>
              <a:t>Unstage</a:t>
            </a:r>
            <a:r>
              <a:rPr lang="en-US" sz="1600" dirty="0"/>
              <a:t> a file</a:t>
            </a:r>
          </a:p>
          <a:p>
            <a:pPr lvl="1"/>
            <a:r>
              <a:rPr lang="en-US" sz="1600" dirty="0"/>
              <a:t>git diff                    # See changes</a:t>
            </a:r>
          </a:p>
          <a:p>
            <a:pPr lvl="1"/>
            <a:r>
              <a:rPr lang="en-US" sz="1600" dirty="0"/>
              <a:t>git log --stat              # Summary of changes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750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1105</Words>
  <Application>Microsoft Office PowerPoint</Application>
  <PresentationFormat>Widescreen</PresentationFormat>
  <Paragraphs>183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Git - GitHub training</vt:lpstr>
      <vt:lpstr>Agenda part 1 - Fundamentals</vt:lpstr>
      <vt:lpstr>01 - Why and what is git</vt:lpstr>
      <vt:lpstr>01 - Why and what is git</vt:lpstr>
      <vt:lpstr>02 - Git use case</vt:lpstr>
      <vt:lpstr>02 – Git use case</vt:lpstr>
      <vt:lpstr>02 – Git use case</vt:lpstr>
      <vt:lpstr>02 – Git use case</vt:lpstr>
      <vt:lpstr>03 – Git staging</vt:lpstr>
      <vt:lpstr>03 – Git staging</vt:lpstr>
      <vt:lpstr>03 – Git staging</vt:lpstr>
      <vt:lpstr>03 – Git staging</vt:lpstr>
      <vt:lpstr>03 – Git staging</vt:lpstr>
      <vt:lpstr>04 – Git commit </vt:lpstr>
      <vt:lpstr>04 – Git commit </vt:lpstr>
      <vt:lpstr>04 – Git commit </vt:lpstr>
      <vt:lpstr>05 – Git tree </vt:lpstr>
      <vt:lpstr>06 – Git branches</vt:lpstr>
      <vt:lpstr>06 – Git branches</vt:lpstr>
      <vt:lpstr>06 - Git branches</vt:lpstr>
      <vt:lpstr>07 - Github</vt:lpstr>
      <vt:lpstr>07 - Github</vt:lpstr>
      <vt:lpstr>07 - Github</vt:lpstr>
      <vt:lpstr>07 - Github</vt:lpstr>
      <vt:lpstr>07 - Github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G.</dc:creator>
  <cp:lastModifiedBy>Osvaldo G.</cp:lastModifiedBy>
  <cp:revision>5</cp:revision>
  <dcterms:created xsi:type="dcterms:W3CDTF">2026-05-10T20:10:29Z</dcterms:created>
  <dcterms:modified xsi:type="dcterms:W3CDTF">2026-05-11T03:24:47Z</dcterms:modified>
</cp:coreProperties>
</file>