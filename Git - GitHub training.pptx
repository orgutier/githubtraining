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1F0F0-66B7-8CF5-D2CD-67FF964D6D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071127-C1F6-CB98-979F-5FA2C1D4C3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E9861-CC48-AD2F-58E4-1FCFA514C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A3E644-4BE9-C3B4-C2BF-DDB3B4DB4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5EF3FC-034F-87EF-C1FC-0D06024E5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1644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9525A-0D83-B871-A436-5B86DAA24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7DE6F7-75E3-14F8-218E-F9B62A537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D4BD4-57E8-4859-4397-32826B517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9A8F9-A903-7822-0554-AF4F1AB3E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977C0-88F7-494D-B95B-0A7EEDA52E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93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1CDA6-F060-97C9-5523-D14B84501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39A841-4C30-CE40-6B34-22821C82D7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106230-477E-B1C0-19D1-2FDBDA8A42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52AFE-13BB-48DC-4925-56770072B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C9B63-8893-1707-E6C3-0C28EBD70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9049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27DE-A499-2622-2936-C30A2A415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12FCA-CC93-0974-3E72-C7D0741E6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C12AB8-A507-91ED-CCC7-6754A1748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40FC8-3314-B557-954B-706B21629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03501-C335-BE65-703D-061DCF59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6A487D-21BF-1866-276D-7C952E086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595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5FC81A-FAB5-9B44-E11D-128A34112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21C0B6-0E28-E573-0F8E-ACA7A784C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657544-2990-10A7-7AC1-BCEC25C218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1CD992-29DD-12B5-DA14-D5D7C49B5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D77055-C711-1D36-0ADE-2E7DDAD3D0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A9F46B6-BA71-C619-5BE3-10A1CECC1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82A662-0354-50BF-BA0B-D8BB76463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6A547F-3EC4-77B2-8A23-03CCE897A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5610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6CE4E-7CCB-6891-4776-E43EDCA74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28EB93-9940-EC7C-9DD5-9B012F545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6C1E30-8E57-9027-A66E-38408B5B0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07F0C4-162D-1AEE-2EB5-11F74BB76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47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CECE0-C42D-1CBF-3F20-DFA5822E1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D5C38-5FFC-7E7D-828F-0D6633235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9F9AE-EE7A-CE20-334E-D12B01976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2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11458-2144-3388-9AF5-CB41AF85C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322B7-3BCE-C365-46CE-359850073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8C3A15-74F5-E28E-F4ED-65DD468EF5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12E21-18CF-60B8-C183-B1BA7655C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2D44E4-9D63-427D-53BE-49E96D0F2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AFFF0F-1B3C-4BF3-C325-D5CB3CC9A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2329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A46B7-D8CC-4E11-3014-5012F4784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EE5DF5-C4E2-242D-5047-6B68C2B953E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9B7F38-12C5-FA42-1525-9B67DCDA7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D28EA-AB4C-0E62-C575-C03E8B713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9CA0D0-B08C-02B0-EA75-910BF5574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FDF49-C3D0-5015-AB2D-0AE433A1F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894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564DC-430C-94FB-2029-D5C360EA67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A20B24-D01D-99CE-BC84-2A74487B73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4EC4E-703A-29CD-5813-353A22DB4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25854-EDBC-B8E0-370F-101C15743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BAB384-0FD8-8DEE-56AD-A51A377FA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01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D597C3-DCD7-CC2C-9194-EF7110E19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9EA5CA-EFBF-51D8-6544-C1A3DE3BF0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B81042-D579-9172-C25E-9F74DC028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83C52D-2711-12ED-724D-53A68E314A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DBCD1-7AFB-90FB-76C7-906D5D126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58154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E4672E-C0AC-8FA4-016C-5A891D3B5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D783E2-B8F0-9089-BDDD-9F8289EC6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0C1003-9837-7A6C-2CC6-30F7C44680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2B15D5-BC96-4CE4-BF87-20DC08544764}" type="datetimeFigureOut">
              <a:rPr lang="en-US" smtClean="0"/>
              <a:t>5/10/2026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F5682-9B85-7AD4-90B0-CAC4EB0E7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2050E7-B97F-AD7C-2199-0CD542C7D5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3DEC71-29A4-4DE0-8F28-2E77ADB2A5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700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80698-C6D7-E128-0703-4DC9B2A27E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Git - GitHub training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6105B-5C13-5BE8-1BD0-8B29E806F2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By @orgutier</a:t>
            </a:r>
          </a:p>
          <a:p>
            <a:endParaRPr lang="en-US" dirty="0"/>
          </a:p>
          <a:p>
            <a:r>
              <a:rPr lang="en-US" dirty="0"/>
              <a:t>Proprietary presentation from https://github.com/orgutier/GithubTraining </a:t>
            </a:r>
          </a:p>
        </p:txBody>
      </p:sp>
    </p:spTree>
    <p:extLst>
      <p:ext uri="{BB962C8B-B14F-4D97-AF65-F5344CB8AC3E}">
        <p14:creationId xmlns:p14="http://schemas.microsoft.com/office/powerpoint/2010/main" val="17264156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53CF00F-82D0-0DBA-75D5-1D01B4526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1FCF90E-6E60-60FC-0ED0-7496B83AB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945037" cy="1133856"/>
          </a:xfrm>
        </p:spPr>
        <p:txBody>
          <a:bodyPr anchor="t">
            <a:normAutofit/>
          </a:bodyPr>
          <a:lstStyle/>
          <a:p>
            <a:r>
              <a:rPr lang="en-US" dirty="0"/>
              <a:t>Agenda part 1 - Fundamentals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7BB5037-14A4-4D8B-BB29-02F3203620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9646858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RowTable"/>
                  </p202:designTagLst>
                </p202:designPr>
              </p:ext>
            </p:extLst>
          </p:nvPr>
        </p:nvGraphicFramePr>
        <p:xfrm>
          <a:off x="1103749" y="1633159"/>
          <a:ext cx="9984501" cy="4941192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2254698">
                  <a:extLst>
                    <a:ext uri="{9D8B030D-6E8A-4147-A177-3AD203B41FA5}">
                      <a16:colId xmlns:a16="http://schemas.microsoft.com/office/drawing/2014/main" val="4052102813"/>
                    </a:ext>
                  </a:extLst>
                </a:gridCol>
                <a:gridCol w="7729803">
                  <a:extLst>
                    <a:ext uri="{9D8B030D-6E8A-4147-A177-3AD203B41FA5}">
                      <a16:colId xmlns:a16="http://schemas.microsoft.com/office/drawing/2014/main" val="259098471"/>
                    </a:ext>
                  </a:extLst>
                </a:gridCol>
              </a:tblGrid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01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Why and what is git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6836443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02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use case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579879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>
                          <a:solidFill>
                            <a:schemeClr val="accent1"/>
                          </a:solidFill>
                        </a:rPr>
                        <a:t>03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commits 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226217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04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tree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2915978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05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Git branches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1607596"/>
                  </a:ext>
                </a:extLst>
              </a:tr>
              <a:tr h="8235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3300" b="1" cap="none" spc="0" dirty="0">
                          <a:solidFill>
                            <a:schemeClr val="accent1"/>
                          </a:solidFill>
                        </a:rPr>
                        <a:t>06 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2100" b="0" cap="none" spc="0" dirty="0">
                          <a:solidFill>
                            <a:schemeClr val="tx1"/>
                          </a:solidFill>
                        </a:rPr>
                        <a:t>Workflow</a:t>
                      </a:r>
                    </a:p>
                  </a:txBody>
                  <a:tcPr marL="141446" marR="141446" marT="141446" marB="141446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6481777"/>
                  </a:ext>
                </a:extLst>
              </a:tr>
            </a:tbl>
          </a:graphicData>
        </a:graphic>
      </p:graphicFrame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Slide Zoom 6"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7783530"/>
                  </p:ext>
                </p:extLst>
              </p:nvPr>
            </p:nvGraphicFramePr>
            <p:xfrm>
              <a:off x="-1901687" y="3820767"/>
              <a:ext cx="3048000" cy="1714500"/>
            </p:xfrm>
            <a:graphic>
              <a:graphicData uri="http://schemas.microsoft.com/office/powerpoint/2016/slidezoom">
                <pslz:sldZm>
                  <pslz:sldZmObj sldId="259" cId="3501372094">
                    <pslz:zmPr id="{A70BC027-DD83-40CE-99F4-B8E8D455970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Slide Zoom 6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7FBF69DC-BF4C-4DFC-26F8-2126D7AA0D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901687" y="3820767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43116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D2792-E9D2-61A2-F71A-CD826725A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18AF2B1-C288-9CA9-4FD4-AB7254562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4517878" cy="34006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56002FE-F546-6A47-B2C5-AF49D14E0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8277" y="1694393"/>
            <a:ext cx="4517878" cy="342114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1B54A3DF-10B3-22A4-6868-8C262D05639A}"/>
              </a:ext>
            </a:extLst>
          </p:cNvPr>
          <p:cNvSpPr/>
          <p:nvPr/>
        </p:nvSpPr>
        <p:spPr>
          <a:xfrm>
            <a:off x="2209846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A6100D-6E4E-6C1D-6518-90BBE8A903D8}"/>
              </a:ext>
            </a:extLst>
          </p:cNvPr>
          <p:cNvSpPr/>
          <p:nvPr/>
        </p:nvSpPr>
        <p:spPr>
          <a:xfrm>
            <a:off x="8173324" y="4147862"/>
            <a:ext cx="2060029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D9852B1-4648-91EE-4B8D-86392AC6C35A}"/>
              </a:ext>
            </a:extLst>
          </p:cNvPr>
          <p:cNvCxnSpPr>
            <a:stCxn id="12" idx="3"/>
          </p:cNvCxnSpPr>
          <p:nvPr/>
        </p:nvCxnSpPr>
        <p:spPr>
          <a:xfrm flipV="1">
            <a:off x="4269875" y="4226902"/>
            <a:ext cx="3903449" cy="3005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8300575-5737-9289-AFCA-9200446AFFA1}"/>
              </a:ext>
            </a:extLst>
          </p:cNvPr>
          <p:cNvSpPr txBox="1"/>
          <p:nvPr/>
        </p:nvSpPr>
        <p:spPr>
          <a:xfrm>
            <a:off x="2716695" y="543094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dirty="0"/>
              <a:t>Your project has a configuration file, and someone decides to change a single parameter </a:t>
            </a:r>
          </a:p>
        </p:txBody>
      </p:sp>
    </p:spTree>
    <p:extLst>
      <p:ext uri="{BB962C8B-B14F-4D97-AF65-F5344CB8AC3E}">
        <p14:creationId xmlns:p14="http://schemas.microsoft.com/office/powerpoint/2010/main" val="1826184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B1C6-E46B-ADE7-70D7-6ECA55800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01 - Why and what is git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F42380-B740-238B-9217-85419590E0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Traceability questions</a:t>
            </a:r>
          </a:p>
          <a:p>
            <a:pPr lvl="1"/>
            <a:r>
              <a:rPr lang="en-US" dirty="0"/>
              <a:t>Who? – Author (Commit author)</a:t>
            </a:r>
          </a:p>
          <a:p>
            <a:pPr lvl="2"/>
            <a:r>
              <a:rPr lang="en-US" dirty="0"/>
              <a:t>Not to blame, but to know who to ask</a:t>
            </a:r>
          </a:p>
          <a:p>
            <a:pPr lvl="1"/>
            <a:r>
              <a:rPr lang="en-US" dirty="0"/>
              <a:t>What? – Change details (Commit diff)</a:t>
            </a:r>
          </a:p>
          <a:p>
            <a:pPr lvl="2"/>
            <a:r>
              <a:rPr lang="en-US" dirty="0"/>
              <a:t>Large clustered commits are harder to review and debug</a:t>
            </a:r>
          </a:p>
          <a:p>
            <a:pPr lvl="1"/>
            <a:r>
              <a:rPr lang="en-US" dirty="0"/>
              <a:t>Why? – Reason (Commit message)</a:t>
            </a:r>
          </a:p>
          <a:p>
            <a:pPr lvl="2"/>
            <a:r>
              <a:rPr lang="en-US" dirty="0"/>
              <a:t>Without context, modifications become risky to maintain</a:t>
            </a:r>
          </a:p>
          <a:p>
            <a:pPr lvl="1"/>
            <a:r>
              <a:rPr lang="en-US" dirty="0"/>
              <a:t>When? – Timestamp (Commit date)</a:t>
            </a:r>
          </a:p>
          <a:p>
            <a:pPr lvl="2"/>
            <a:r>
              <a:rPr lang="en-US" dirty="0"/>
              <a:t>Helps correlate changes with events, releases, or incidents</a:t>
            </a:r>
          </a:p>
          <a:p>
            <a:pPr lvl="1"/>
            <a:r>
              <a:rPr lang="en-US" dirty="0"/>
              <a:t>Where? – Position in history (Commit hash, Commit parents and Branch)</a:t>
            </a:r>
          </a:p>
          <a:p>
            <a:pPr lvl="2"/>
            <a:r>
              <a:rPr lang="en-US" dirty="0"/>
              <a:t>A change may exist in one branch but not another</a:t>
            </a:r>
          </a:p>
          <a:p>
            <a:endParaRPr lang="en-US" dirty="0"/>
          </a:p>
          <a:p>
            <a:r>
              <a:rPr lang="en-US" u="sng" dirty="0"/>
              <a:t>Git stores project history as connected snapshots called commits.</a:t>
            </a:r>
          </a:p>
        </p:txBody>
      </p:sp>
    </p:spTree>
    <p:extLst>
      <p:ext uri="{BB962C8B-B14F-4D97-AF65-F5344CB8AC3E}">
        <p14:creationId xmlns:p14="http://schemas.microsoft.com/office/powerpoint/2010/main" val="35013720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4B04-A62D-7BE2-96AE-77F275231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02 - Git 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3FEE-C33C-7AA7-9ED7-30E44EEB02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53708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Git is great for</a:t>
            </a:r>
          </a:p>
          <a:p>
            <a:pPr lvl="1"/>
            <a:r>
              <a:rPr lang="en-US" dirty="0"/>
              <a:t>*.xml</a:t>
            </a:r>
          </a:p>
          <a:p>
            <a:pPr lvl="1"/>
            <a:r>
              <a:rPr lang="en-US" dirty="0"/>
              <a:t>*.c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cpp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py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json</a:t>
            </a:r>
            <a:endParaRPr lang="en-US" dirty="0"/>
          </a:p>
          <a:p>
            <a:pPr lvl="1"/>
            <a:r>
              <a:rPr lang="en-US" dirty="0"/>
              <a:t>*.txt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asc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sh</a:t>
            </a:r>
            <a:r>
              <a:rPr lang="en-US" dirty="0"/>
              <a:t>, *.bat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As long as the file is codified as text format </a:t>
            </a:r>
          </a:p>
          <a:p>
            <a:pPr lvl="1"/>
            <a:r>
              <a:rPr lang="en-US" dirty="0"/>
              <a:t>E.g. UTF-8, UTF-16, ISO-8859-1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2A4986-3E62-E87A-7AF7-27DDA8559B9F}"/>
              </a:ext>
            </a:extLst>
          </p:cNvPr>
          <p:cNvSpPr txBox="1">
            <a:spLocks/>
          </p:cNvSpPr>
          <p:nvPr/>
        </p:nvSpPr>
        <p:spPr>
          <a:xfrm>
            <a:off x="6600094" y="1825625"/>
            <a:ext cx="4753708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Git is blind for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vbf</a:t>
            </a:r>
            <a:endParaRPr lang="en-US" dirty="0"/>
          </a:p>
          <a:p>
            <a:pPr lvl="1"/>
            <a:r>
              <a:rPr lang="en-US" dirty="0"/>
              <a:t>*.</a:t>
            </a:r>
            <a:r>
              <a:rPr lang="en-US" dirty="0" err="1"/>
              <a:t>blf</a:t>
            </a:r>
            <a:endParaRPr lang="en-US" dirty="0"/>
          </a:p>
          <a:p>
            <a:pPr lvl="1"/>
            <a:r>
              <a:rPr lang="en-US" dirty="0"/>
              <a:t>*.exe</a:t>
            </a:r>
          </a:p>
          <a:p>
            <a:pPr lvl="1"/>
            <a:r>
              <a:rPr lang="en-US" dirty="0"/>
              <a:t>*.</a:t>
            </a:r>
            <a:r>
              <a:rPr lang="en-US" dirty="0" err="1"/>
              <a:t>msi</a:t>
            </a:r>
            <a:endParaRPr lang="en-US" dirty="0"/>
          </a:p>
          <a:p>
            <a:pPr lvl="1"/>
            <a:r>
              <a:rPr lang="en-US" dirty="0"/>
              <a:t>*.bin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endParaRPr lang="en-US" dirty="0"/>
          </a:p>
          <a:p>
            <a:r>
              <a:rPr lang="en-US" dirty="0"/>
              <a:t>Non-text files such as artifacts, executables and binary files</a:t>
            </a:r>
          </a:p>
        </p:txBody>
      </p:sp>
    </p:spTree>
    <p:extLst>
      <p:ext uri="{BB962C8B-B14F-4D97-AF65-F5344CB8AC3E}">
        <p14:creationId xmlns:p14="http://schemas.microsoft.com/office/powerpoint/2010/main" val="2846656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0B090-E398-941F-61BB-BB89A17EE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07980E0-C00C-5008-FBE1-69BDC3A24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5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395DBF4-5E93-08A0-193E-7F8C3AE70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31CDA2F-5889-2483-5E5A-BA4295CC6F91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When you modify a line in a text file, git considers you deleted and added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2DD5B86-3245-B983-6C96-F9B43F30BE4E}"/>
              </a:ext>
            </a:extLst>
          </p:cNvPr>
          <p:cNvSpPr/>
          <p:nvPr/>
        </p:nvSpPr>
        <p:spPr>
          <a:xfrm>
            <a:off x="8919210" y="494116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81314B-A9E7-5672-CB7A-EDD7B17E8AFC}"/>
              </a:ext>
            </a:extLst>
          </p:cNvPr>
          <p:cNvCxnSpPr>
            <a:cxnSpLocks/>
            <a:stCxn id="16" idx="2"/>
          </p:cNvCxnSpPr>
          <p:nvPr/>
        </p:nvCxnSpPr>
        <p:spPr>
          <a:xfrm>
            <a:off x="4497329" y="3119881"/>
            <a:ext cx="1141471" cy="143799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0AEC173-D3A7-8FF0-EAA0-FF856FAC0B4B}"/>
              </a:ext>
            </a:extLst>
          </p:cNvPr>
          <p:cNvSpPr/>
          <p:nvPr/>
        </p:nvSpPr>
        <p:spPr>
          <a:xfrm>
            <a:off x="8919210" y="809718"/>
            <a:ext cx="2122170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BA7497-DDE1-97B7-8639-2394905C9580}"/>
              </a:ext>
            </a:extLst>
          </p:cNvPr>
          <p:cNvSpPr/>
          <p:nvPr/>
        </p:nvSpPr>
        <p:spPr>
          <a:xfrm>
            <a:off x="1906528" y="4557878"/>
            <a:ext cx="696315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83FCBC2-9212-5635-6CD4-6243DB17FD9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603210"/>
            <a:ext cx="2134097" cy="20088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B275380-6A53-AA7A-036E-5A061AE4CD75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918812"/>
            <a:ext cx="2134097" cy="169323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8B8401-3F4F-A02E-2AE0-1BE7EEEE139E}"/>
              </a:ext>
            </a:extLst>
          </p:cNvPr>
          <p:cNvSpPr txBox="1"/>
          <p:nvPr/>
        </p:nvSpPr>
        <p:spPr>
          <a:xfrm>
            <a:off x="9772139" y="4057678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diff &lt;file&gt;</a:t>
            </a:r>
          </a:p>
        </p:txBody>
      </p:sp>
    </p:spTree>
    <p:extLst>
      <p:ext uri="{BB962C8B-B14F-4D97-AF65-F5344CB8AC3E}">
        <p14:creationId xmlns:p14="http://schemas.microsoft.com/office/powerpoint/2010/main" val="845857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53CC3-359C-0843-1FF7-49A74925B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99F28-B58C-3908-C0A7-6A325449C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E957E2A-6CA7-3187-A86E-D1093E88B6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244" y="4218705"/>
            <a:ext cx="8965076" cy="22327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A338488-645B-EE35-3A51-9286FD772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470" y="204098"/>
            <a:ext cx="4017701" cy="385358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30FA74A-B489-72BD-54F5-6925942B7AF7}"/>
              </a:ext>
            </a:extLst>
          </p:cNvPr>
          <p:cNvSpPr txBox="1"/>
          <p:nvPr/>
        </p:nvSpPr>
        <p:spPr>
          <a:xfrm>
            <a:off x="2209545" y="2104218"/>
            <a:ext cx="45755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 you move one line to another place in the same file, git will consider you deleted it and you created a new 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BFEE8C-DB37-B379-FDD3-5007216781B8}"/>
              </a:ext>
            </a:extLst>
          </p:cNvPr>
          <p:cNvSpPr/>
          <p:nvPr/>
        </p:nvSpPr>
        <p:spPr>
          <a:xfrm>
            <a:off x="8946831" y="655282"/>
            <a:ext cx="2286954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A47E6-C39A-FE93-D149-F01F294FC2A2}"/>
              </a:ext>
            </a:extLst>
          </p:cNvPr>
          <p:cNvCxnSpPr>
            <a:cxnSpLocks/>
            <a:stCxn id="16" idx="2"/>
            <a:endCxn id="20" idx="0"/>
          </p:cNvCxnSpPr>
          <p:nvPr/>
        </p:nvCxnSpPr>
        <p:spPr>
          <a:xfrm flipH="1">
            <a:off x="3014474" y="3119881"/>
            <a:ext cx="1482855" cy="160665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A2B3B79-F59D-1CE9-BA6E-B32790AA3336}"/>
              </a:ext>
            </a:extLst>
          </p:cNvPr>
          <p:cNvSpPr/>
          <p:nvPr/>
        </p:nvSpPr>
        <p:spPr>
          <a:xfrm>
            <a:off x="8898254" y="1068812"/>
            <a:ext cx="2219325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0B70CA-7090-1493-119D-A4338503881B}"/>
              </a:ext>
            </a:extLst>
          </p:cNvPr>
          <p:cNvSpPr/>
          <p:nvPr/>
        </p:nvSpPr>
        <p:spPr>
          <a:xfrm>
            <a:off x="1921768" y="4726536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549067C-F846-F3B9-0611-58D05CE45135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6785113" y="764376"/>
            <a:ext cx="2161718" cy="184767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FB1A4ED-DD35-FA98-5EA9-2E4568E602F2}"/>
              </a:ext>
            </a:extLst>
          </p:cNvPr>
          <p:cNvCxnSpPr>
            <a:cxnSpLocks/>
            <a:stCxn id="16" idx="3"/>
            <a:endCxn id="19" idx="1"/>
          </p:cNvCxnSpPr>
          <p:nvPr/>
        </p:nvCxnSpPr>
        <p:spPr>
          <a:xfrm flipV="1">
            <a:off x="6785113" y="1177906"/>
            <a:ext cx="2113141" cy="143414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5623EF-7D74-916D-6D8D-ABE8D3AC8F1C}"/>
              </a:ext>
            </a:extLst>
          </p:cNvPr>
          <p:cNvCxnSpPr>
            <a:cxnSpLocks/>
            <a:stCxn id="16" idx="2"/>
            <a:endCxn id="11" idx="0"/>
          </p:cNvCxnSpPr>
          <p:nvPr/>
        </p:nvCxnSpPr>
        <p:spPr>
          <a:xfrm>
            <a:off x="4497329" y="3119881"/>
            <a:ext cx="3464430" cy="1983617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437FBA3-CC13-694D-EA09-C4783FE32D37}"/>
              </a:ext>
            </a:extLst>
          </p:cNvPr>
          <p:cNvSpPr/>
          <p:nvPr/>
        </p:nvSpPr>
        <p:spPr>
          <a:xfrm>
            <a:off x="6869053" y="5103498"/>
            <a:ext cx="218541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64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FE1B1-6F75-8DB2-AB3E-55CD49A12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C746E-9C6D-AF6C-A423-71752B26F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02 – Git use case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8F0155-58E1-0837-E91D-6F25746D9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938" y="889233"/>
            <a:ext cx="5901217" cy="5660155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3D77487-6E1B-2928-E56F-E67CADA9450F}"/>
              </a:ext>
            </a:extLst>
          </p:cNvPr>
          <p:cNvSpPr txBox="1"/>
          <p:nvPr/>
        </p:nvSpPr>
        <p:spPr>
          <a:xfrm>
            <a:off x="738808" y="2999775"/>
            <a:ext cx="45755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has two ways to describe a change </a:t>
            </a:r>
            <a:r>
              <a:rPr lang="en-US" sz="2000" b="1" dirty="0"/>
              <a:t>(What)</a:t>
            </a:r>
            <a:r>
              <a:rPr lang="en-US" sz="2000" dirty="0"/>
              <a:t>, you added (insertion) or you removed (deletion) a line in a text file, that’s it</a:t>
            </a:r>
            <a:endParaRPr lang="en-US" sz="2000" b="1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2A78C3-38BF-0C63-2447-DF39D17DE849}"/>
              </a:ext>
            </a:extLst>
          </p:cNvPr>
          <p:cNvSpPr/>
          <p:nvPr/>
        </p:nvSpPr>
        <p:spPr>
          <a:xfrm>
            <a:off x="5961889" y="1337310"/>
            <a:ext cx="292608" cy="24269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15EA5B9-0F49-5D6E-CD4F-EC4A4347E152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5314376" y="2550795"/>
            <a:ext cx="647513" cy="11107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0C30F11-9A37-B6DF-7730-C9B9F0394DBC}"/>
              </a:ext>
            </a:extLst>
          </p:cNvPr>
          <p:cNvSpPr txBox="1"/>
          <p:nvPr/>
        </p:nvSpPr>
        <p:spPr>
          <a:xfrm>
            <a:off x="10515600" y="519901"/>
            <a:ext cx="12816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diff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507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BAC05-8889-202E-9FA4-32106C30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84BBC-D2A2-7C82-F6D6-97A5055B1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4481AA-113F-A507-DE0B-F8FDF26AA7A2}"/>
              </a:ext>
            </a:extLst>
          </p:cNvPr>
          <p:cNvSpPr txBox="1"/>
          <p:nvPr/>
        </p:nvSpPr>
        <p:spPr>
          <a:xfrm>
            <a:off x="6831166" y="702729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diff will make a comparison within current Workspace and commit you provide</a:t>
            </a:r>
            <a:endParaRPr lang="en-US" sz="20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8D9037D-5C50-2CB1-A838-ADDDCA272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563" y="2469436"/>
            <a:ext cx="6244702" cy="34863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2E1540-0C93-0A39-23C1-E78ED82A237C}"/>
              </a:ext>
            </a:extLst>
          </p:cNvPr>
          <p:cNvSpPr txBox="1"/>
          <p:nvPr/>
        </p:nvSpPr>
        <p:spPr>
          <a:xfrm>
            <a:off x="2070190" y="230597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Who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FD6A3A-B9F0-971B-5F22-4B592E7F1A37}"/>
              </a:ext>
            </a:extLst>
          </p:cNvPr>
          <p:cNvSpPr txBox="1"/>
          <p:nvPr/>
        </p:nvSpPr>
        <p:spPr>
          <a:xfrm>
            <a:off x="2070190" y="270608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When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DB3D35-E560-BB5E-FF31-1AFBD3DF820F}"/>
              </a:ext>
            </a:extLst>
          </p:cNvPr>
          <p:cNvSpPr txBox="1"/>
          <p:nvPr/>
        </p:nvSpPr>
        <p:spPr>
          <a:xfrm>
            <a:off x="2070190" y="310619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Why</a:t>
            </a:r>
            <a:r>
              <a:rPr lang="en-US" sz="2000" dirty="0"/>
              <a:t>? </a:t>
            </a:r>
            <a:endParaRPr lang="en-US" sz="20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B553A-B4F4-42E8-6C50-0D2BFF1F614F}"/>
              </a:ext>
            </a:extLst>
          </p:cNvPr>
          <p:cNvSpPr txBox="1"/>
          <p:nvPr/>
        </p:nvSpPr>
        <p:spPr>
          <a:xfrm>
            <a:off x="2070190" y="1905867"/>
            <a:ext cx="14532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Where</a:t>
            </a:r>
            <a:r>
              <a:rPr lang="en-US" sz="2000" dirty="0"/>
              <a:t>? </a:t>
            </a:r>
            <a:endParaRPr lang="en-US" sz="2000" b="1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744D86A-82D4-3449-5118-ED9BC64A47B2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>
            <a:off x="3523488" y="2105922"/>
            <a:ext cx="1726075" cy="71040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FB632CE-A505-9996-F632-0CD6351224F0}"/>
              </a:ext>
            </a:extLst>
          </p:cNvPr>
          <p:cNvSpPr/>
          <p:nvPr/>
        </p:nvSpPr>
        <p:spPr>
          <a:xfrm>
            <a:off x="5249563" y="2707233"/>
            <a:ext cx="610423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95C273-890D-FFB6-2009-3B7E10E6A584}"/>
              </a:ext>
            </a:extLst>
          </p:cNvPr>
          <p:cNvSpPr txBox="1"/>
          <p:nvPr/>
        </p:nvSpPr>
        <p:spPr>
          <a:xfrm>
            <a:off x="9363959" y="5919196"/>
            <a:ext cx="25384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&gt; git log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46C8CD2-3769-D720-F021-EDE38938D88B}"/>
              </a:ext>
            </a:extLst>
          </p:cNvPr>
          <p:cNvSpPr/>
          <p:nvPr/>
        </p:nvSpPr>
        <p:spPr>
          <a:xfrm>
            <a:off x="5249563" y="2925421"/>
            <a:ext cx="425257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0B5906-6F2E-EA89-6CE9-F700CC7F70B0}"/>
              </a:ext>
            </a:extLst>
          </p:cNvPr>
          <p:cNvSpPr/>
          <p:nvPr/>
        </p:nvSpPr>
        <p:spPr>
          <a:xfrm>
            <a:off x="5249563" y="3151326"/>
            <a:ext cx="377251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B770895-8C44-B8FA-DB06-CA900F1B3AE0}"/>
              </a:ext>
            </a:extLst>
          </p:cNvPr>
          <p:cNvSpPr/>
          <p:nvPr/>
        </p:nvSpPr>
        <p:spPr>
          <a:xfrm>
            <a:off x="5631186" y="3474215"/>
            <a:ext cx="29073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C1C161-C8C5-2217-2153-7B2F9F75467C}"/>
              </a:ext>
            </a:extLst>
          </p:cNvPr>
          <p:cNvCxnSpPr>
            <a:cxnSpLocks/>
            <a:stCxn id="12" idx="3"/>
            <a:endCxn id="27" idx="1"/>
          </p:cNvCxnSpPr>
          <p:nvPr/>
        </p:nvCxnSpPr>
        <p:spPr>
          <a:xfrm>
            <a:off x="3523488" y="2506032"/>
            <a:ext cx="1726075" cy="528483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2EB8275-E1CF-ED2E-9AA4-3522BF88FBAD}"/>
              </a:ext>
            </a:extLst>
          </p:cNvPr>
          <p:cNvCxnSpPr>
            <a:cxnSpLocks/>
            <a:stCxn id="13" idx="3"/>
            <a:endCxn id="28" idx="1"/>
          </p:cNvCxnSpPr>
          <p:nvPr/>
        </p:nvCxnSpPr>
        <p:spPr>
          <a:xfrm>
            <a:off x="3523488" y="2906142"/>
            <a:ext cx="1726075" cy="354278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01CF958-B741-76AB-D906-9F46110FB124}"/>
              </a:ext>
            </a:extLst>
          </p:cNvPr>
          <p:cNvCxnSpPr>
            <a:cxnSpLocks/>
            <a:stCxn id="14" idx="3"/>
          </p:cNvCxnSpPr>
          <p:nvPr/>
        </p:nvCxnSpPr>
        <p:spPr>
          <a:xfrm>
            <a:off x="3523488" y="3306252"/>
            <a:ext cx="2107698" cy="29132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5592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1C1BA-0026-78BC-F20E-7ADE377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4C898-526C-6326-355A-77BA2886D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commit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0EC195-2816-DB2F-CEFB-BA9A641A409A}"/>
              </a:ext>
            </a:extLst>
          </p:cNvPr>
          <p:cNvSpPr txBox="1"/>
          <p:nvPr/>
        </p:nvSpPr>
        <p:spPr>
          <a:xfrm>
            <a:off x="1195505" y="3919490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Git have many ways to provide metadata of changes, git diff, git log </a:t>
            </a:r>
            <a:r>
              <a:rPr lang="en-US" sz="2000" dirty="0" err="1"/>
              <a:t>etc</a:t>
            </a:r>
            <a:r>
              <a:rPr lang="en-US" sz="2000" dirty="0"/>
              <a:t>… (</a:t>
            </a:r>
            <a:r>
              <a:rPr lang="en-US" sz="2000" b="1" dirty="0"/>
              <a:t>What</a:t>
            </a:r>
            <a:r>
              <a:rPr lang="en-US" sz="2000" dirty="0"/>
              <a:t>)</a:t>
            </a:r>
            <a:endParaRPr 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2E6BD1-BA59-43A0-B5BE-34C181B26A8B}"/>
              </a:ext>
            </a:extLst>
          </p:cNvPr>
          <p:cNvSpPr txBox="1"/>
          <p:nvPr/>
        </p:nvSpPr>
        <p:spPr>
          <a:xfrm>
            <a:off x="6096000" y="3657880"/>
            <a:ext cx="59022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b="1" dirty="0"/>
              <a:t>git diff &lt;Commit A&gt; &lt;Commit B&gt; &lt;File&gt;</a:t>
            </a:r>
            <a:endParaRPr lang="en-US" dirty="0"/>
          </a:p>
          <a:p>
            <a:r>
              <a:rPr lang="en-US" dirty="0"/>
              <a:t>What needs A to become B?</a:t>
            </a:r>
          </a:p>
          <a:p>
            <a:r>
              <a:rPr lang="en-US" dirty="0"/>
              <a:t>Option --stat gives a summary with no detailed diff per file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36F45A-5CAF-B2BE-66F8-8954B8FB6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90" y="2685805"/>
            <a:ext cx="8607619" cy="810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0201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29CA2-0D91-8B7B-0453-88F106D70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03 – Git commit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9DB20-88AB-363E-9501-A938E1BF4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63" y="3664297"/>
            <a:ext cx="10721674" cy="2055979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D9D6A0-4652-F436-521C-9E256BEAA048}"/>
              </a:ext>
            </a:extLst>
          </p:cNvPr>
          <p:cNvCxnSpPr>
            <a:cxnSpLocks/>
            <a:stCxn id="11" idx="1"/>
            <a:endCxn id="7" idx="0"/>
          </p:cNvCxnSpPr>
          <p:nvPr/>
        </p:nvCxnSpPr>
        <p:spPr>
          <a:xfrm flipH="1">
            <a:off x="2782262" y="2584529"/>
            <a:ext cx="988803" cy="131924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1CA2AF76-A1A9-5A33-815D-D602E00ECD51}"/>
              </a:ext>
            </a:extLst>
          </p:cNvPr>
          <p:cNvSpPr/>
          <p:nvPr/>
        </p:nvSpPr>
        <p:spPr>
          <a:xfrm>
            <a:off x="1972963" y="3903769"/>
            <a:ext cx="16185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2D165-B930-282E-70EB-A2E18B397FA2}"/>
              </a:ext>
            </a:extLst>
          </p:cNvPr>
          <p:cNvSpPr txBox="1"/>
          <p:nvPr/>
        </p:nvSpPr>
        <p:spPr>
          <a:xfrm>
            <a:off x="3771065" y="223058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Parents - Where I come from</a:t>
            </a:r>
            <a:endParaRPr lang="en-US" sz="20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A9F918-6553-30BB-622F-8A34E1824BA5}"/>
              </a:ext>
            </a:extLst>
          </p:cNvPr>
          <p:cNvSpPr txBox="1"/>
          <p:nvPr/>
        </p:nvSpPr>
        <p:spPr>
          <a:xfrm>
            <a:off x="3771065" y="1450626"/>
            <a:ext cx="31260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Commit hash – Self id in history</a:t>
            </a:r>
            <a:endParaRPr lang="en-US" sz="20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92AD8D-408C-F16A-F4E4-A8DF224CDBF0}"/>
              </a:ext>
            </a:extLst>
          </p:cNvPr>
          <p:cNvSpPr/>
          <p:nvPr/>
        </p:nvSpPr>
        <p:spPr>
          <a:xfrm>
            <a:off x="1163665" y="3903769"/>
            <a:ext cx="764196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1DB2B1B-3105-CD86-AD7A-F316698510C7}"/>
              </a:ext>
            </a:extLst>
          </p:cNvPr>
          <p:cNvCxnSpPr>
            <a:cxnSpLocks/>
            <a:stCxn id="14" idx="1"/>
            <a:endCxn id="15" idx="0"/>
          </p:cNvCxnSpPr>
          <p:nvPr/>
        </p:nvCxnSpPr>
        <p:spPr>
          <a:xfrm flipH="1">
            <a:off x="1545763" y="1804569"/>
            <a:ext cx="2225302" cy="209920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4CB74CD5-F3F9-89E5-2CD2-F9AC9ADF6ADF}"/>
              </a:ext>
            </a:extLst>
          </p:cNvPr>
          <p:cNvSpPr/>
          <p:nvPr/>
        </p:nvSpPr>
        <p:spPr>
          <a:xfrm>
            <a:off x="781566" y="4484740"/>
            <a:ext cx="1172963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58ED0CA-28A5-DC5E-3004-F5C9312CFAB9}"/>
              </a:ext>
            </a:extLst>
          </p:cNvPr>
          <p:cNvSpPr/>
          <p:nvPr/>
        </p:nvSpPr>
        <p:spPr>
          <a:xfrm>
            <a:off x="959282" y="4266552"/>
            <a:ext cx="995248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51D3E33-384E-F3FB-3DA5-AC4F272E9F84}"/>
              </a:ext>
            </a:extLst>
          </p:cNvPr>
          <p:cNvCxnSpPr>
            <a:cxnSpLocks/>
            <a:endCxn id="20" idx="3"/>
          </p:cNvCxnSpPr>
          <p:nvPr/>
        </p:nvCxnSpPr>
        <p:spPr>
          <a:xfrm flipH="1">
            <a:off x="1954530" y="4121957"/>
            <a:ext cx="1165860" cy="253689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199DE6A-6D1D-7BD0-9055-3B6D84503FD2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1954529" y="4177226"/>
            <a:ext cx="480061" cy="416608"/>
          </a:xfrm>
          <a:prstGeom prst="straightConnector1">
            <a:avLst/>
          </a:prstGeom>
          <a:ln w="9525">
            <a:solidFill>
              <a:srgbClr val="FF0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DAB68E0C-854F-0830-5700-90C0D1A3D987}"/>
              </a:ext>
            </a:extLst>
          </p:cNvPr>
          <p:cNvSpPr txBox="1"/>
          <p:nvPr/>
        </p:nvSpPr>
        <p:spPr>
          <a:xfrm>
            <a:off x="6598996" y="5802003"/>
            <a:ext cx="6094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log --graph --</a:t>
            </a:r>
            <a:r>
              <a:rPr lang="en-US" b="1" dirty="0" err="1"/>
              <a:t>oneline</a:t>
            </a:r>
            <a:r>
              <a:rPr lang="en-US" b="1" dirty="0"/>
              <a:t> --decorate --parents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0357131-EBEF-497D-4A91-6444644721AB}"/>
              </a:ext>
            </a:extLst>
          </p:cNvPr>
          <p:cNvSpPr txBox="1">
            <a:spLocks/>
          </p:cNvSpPr>
          <p:nvPr/>
        </p:nvSpPr>
        <p:spPr>
          <a:xfrm>
            <a:off x="990600" y="5175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33080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4EC1-0F4E-14BC-C5EA-0229E9023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– Git branches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D6CBBA-B353-1B52-37A2-8816CB0DB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218" y="1690688"/>
            <a:ext cx="10721674" cy="2055979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F8FCBFE-C874-E40D-D689-93DB4A92FF55}"/>
              </a:ext>
            </a:extLst>
          </p:cNvPr>
          <p:cNvSpPr/>
          <p:nvPr/>
        </p:nvSpPr>
        <p:spPr>
          <a:xfrm>
            <a:off x="8553217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e48e149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A7AC09-EADB-D757-3CAA-E11BEAE56926}"/>
              </a:ext>
            </a:extLst>
          </p:cNvPr>
          <p:cNvSpPr/>
          <p:nvPr/>
        </p:nvSpPr>
        <p:spPr>
          <a:xfrm>
            <a:off x="676500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f378b85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7574B02-81B3-6362-25ED-CE5CB19787F8}"/>
              </a:ext>
            </a:extLst>
          </p:cNvPr>
          <p:cNvSpPr/>
          <p:nvPr/>
        </p:nvSpPr>
        <p:spPr>
          <a:xfrm>
            <a:off x="6765002" y="5018888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5ccc5b3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7ACF41B-CD69-C2A2-5C67-B9F723ED25C7}"/>
              </a:ext>
            </a:extLst>
          </p:cNvPr>
          <p:cNvSpPr/>
          <p:nvPr/>
        </p:nvSpPr>
        <p:spPr>
          <a:xfrm>
            <a:off x="3171179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ddd5a9a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6D9A1BA-333A-F6E8-A6E9-8690FF4AEA1A}"/>
              </a:ext>
            </a:extLst>
          </p:cNvPr>
          <p:cNvSpPr/>
          <p:nvPr/>
        </p:nvSpPr>
        <p:spPr>
          <a:xfrm>
            <a:off x="4965192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73722c1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0D13C73-11B2-276F-5AF6-4736BC02EF44}"/>
              </a:ext>
            </a:extLst>
          </p:cNvPr>
          <p:cNvSpPr/>
          <p:nvPr/>
        </p:nvSpPr>
        <p:spPr>
          <a:xfrm>
            <a:off x="1377166" y="4186796"/>
            <a:ext cx="1318592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…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5D7FAC0-483A-3CC7-9E7F-F1C0FDAF30AD}"/>
              </a:ext>
            </a:extLst>
          </p:cNvPr>
          <p:cNvCxnSpPr>
            <a:stCxn id="12" idx="3"/>
            <a:endCxn id="10" idx="1"/>
          </p:cNvCxnSpPr>
          <p:nvPr/>
        </p:nvCxnSpPr>
        <p:spPr>
          <a:xfrm>
            <a:off x="2695758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80B44-31D9-A1DC-42C5-5111FABB2358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4489771" y="4425335"/>
            <a:ext cx="475421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7C9E06-5AEC-1143-E685-8D48B0F67281}"/>
              </a:ext>
            </a:extLst>
          </p:cNvPr>
          <p:cNvCxnSpPr>
            <a:cxnSpLocks/>
            <a:stCxn id="11" idx="3"/>
            <a:endCxn id="8" idx="1"/>
          </p:cNvCxnSpPr>
          <p:nvPr/>
        </p:nvCxnSpPr>
        <p:spPr>
          <a:xfrm>
            <a:off x="6283784" y="4425335"/>
            <a:ext cx="481218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10DB665-B3C8-81DD-81B4-9AE6DD88D914}"/>
              </a:ext>
            </a:extLst>
          </p:cNvPr>
          <p:cNvCxnSpPr>
            <a:cxnSpLocks/>
            <a:stCxn id="8" idx="3"/>
            <a:endCxn id="5" idx="1"/>
          </p:cNvCxnSpPr>
          <p:nvPr/>
        </p:nvCxnSpPr>
        <p:spPr>
          <a:xfrm>
            <a:off x="8083594" y="4425335"/>
            <a:ext cx="469623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B7C1D9-1BAE-8D25-E9BC-EFEAFCC44CE9}"/>
              </a:ext>
            </a:extLst>
          </p:cNvPr>
          <p:cNvCxnSpPr>
            <a:cxnSpLocks/>
            <a:stCxn id="11" idx="3"/>
            <a:endCxn id="9" idx="1"/>
          </p:cNvCxnSpPr>
          <p:nvPr/>
        </p:nvCxnSpPr>
        <p:spPr>
          <a:xfrm>
            <a:off x="6283784" y="4425335"/>
            <a:ext cx="481218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BD70DB7-BD0E-AAD4-D557-BC9195400EAB}"/>
              </a:ext>
            </a:extLst>
          </p:cNvPr>
          <p:cNvCxnSpPr>
            <a:cxnSpLocks/>
            <a:stCxn id="9" idx="3"/>
            <a:endCxn id="5" idx="1"/>
          </p:cNvCxnSpPr>
          <p:nvPr/>
        </p:nvCxnSpPr>
        <p:spPr>
          <a:xfrm flipV="1">
            <a:off x="8083594" y="4425335"/>
            <a:ext cx="469623" cy="83209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FABEB180-2046-3AC0-1E86-DD109F3EACFB}"/>
              </a:ext>
            </a:extLst>
          </p:cNvPr>
          <p:cNvSpPr txBox="1"/>
          <p:nvPr/>
        </p:nvSpPr>
        <p:spPr>
          <a:xfrm>
            <a:off x="8826830" y="5407152"/>
            <a:ext cx="771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HEAD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F490A7-22FE-328E-2429-AFAF49BBC274}"/>
              </a:ext>
            </a:extLst>
          </p:cNvPr>
          <p:cNvSpPr txBox="1"/>
          <p:nvPr/>
        </p:nvSpPr>
        <p:spPr>
          <a:xfrm>
            <a:off x="8869310" y="4919337"/>
            <a:ext cx="6864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main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869A90-5F77-5B51-72D4-F5EF70A48409}"/>
              </a:ext>
            </a:extLst>
          </p:cNvPr>
          <p:cNvSpPr txBox="1"/>
          <p:nvPr/>
        </p:nvSpPr>
        <p:spPr>
          <a:xfrm>
            <a:off x="6577623" y="5725949"/>
            <a:ext cx="16933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source-context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E112A2C-7726-1EDC-D4C3-AF8FACDDC1F8}"/>
              </a:ext>
            </a:extLst>
          </p:cNvPr>
          <p:cNvCxnSpPr>
            <a:cxnSpLocks/>
            <a:stCxn id="6" idx="0"/>
            <a:endCxn id="9" idx="2"/>
          </p:cNvCxnSpPr>
          <p:nvPr/>
        </p:nvCxnSpPr>
        <p:spPr>
          <a:xfrm flipV="1">
            <a:off x="7424298" y="5495966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B53E8D9-53E3-EBB9-2ACE-030BF782CB0F}"/>
              </a:ext>
            </a:extLst>
          </p:cNvPr>
          <p:cNvCxnSpPr>
            <a:cxnSpLocks/>
          </p:cNvCxnSpPr>
          <p:nvPr/>
        </p:nvCxnSpPr>
        <p:spPr>
          <a:xfrm flipV="1">
            <a:off x="9208967" y="4689354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6B0C24C-5384-F535-722C-154896FE6756}"/>
              </a:ext>
            </a:extLst>
          </p:cNvPr>
          <p:cNvCxnSpPr>
            <a:cxnSpLocks/>
          </p:cNvCxnSpPr>
          <p:nvPr/>
        </p:nvCxnSpPr>
        <p:spPr>
          <a:xfrm flipV="1">
            <a:off x="9208967" y="5177169"/>
            <a:ext cx="0" cy="229983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DF095F7-7048-87C9-9365-21BB76FD6EDF}"/>
              </a:ext>
            </a:extLst>
          </p:cNvPr>
          <p:cNvSpPr txBox="1"/>
          <p:nvPr/>
        </p:nvSpPr>
        <p:spPr>
          <a:xfrm>
            <a:off x="2673716" y="5037820"/>
            <a:ext cx="23135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origin/source-context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9924FF9-7A1B-C49F-146A-EAC751B839DD}"/>
              </a:ext>
            </a:extLst>
          </p:cNvPr>
          <p:cNvSpPr txBox="1"/>
          <p:nvPr/>
        </p:nvSpPr>
        <p:spPr>
          <a:xfrm>
            <a:off x="3171179" y="5374287"/>
            <a:ext cx="1314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origin/main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A980B33-D11B-4A4B-EA6B-4640A832F595}"/>
              </a:ext>
            </a:extLst>
          </p:cNvPr>
          <p:cNvCxnSpPr>
            <a:cxnSpLocks/>
          </p:cNvCxnSpPr>
          <p:nvPr/>
        </p:nvCxnSpPr>
        <p:spPr>
          <a:xfrm flipV="1">
            <a:off x="3554663" y="4726389"/>
            <a:ext cx="0" cy="377614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89D1EA-F6A3-2CE5-48C8-91E7F1037B26}"/>
              </a:ext>
            </a:extLst>
          </p:cNvPr>
          <p:cNvCxnSpPr>
            <a:cxnSpLocks/>
            <a:stCxn id="21" idx="0"/>
          </p:cNvCxnSpPr>
          <p:nvPr/>
        </p:nvCxnSpPr>
        <p:spPr>
          <a:xfrm flipV="1">
            <a:off x="3828250" y="4726389"/>
            <a:ext cx="0" cy="647898"/>
          </a:xfrm>
          <a:prstGeom prst="straightConnector1">
            <a:avLst/>
          </a:prstGeom>
          <a:ln>
            <a:solidFill>
              <a:srgbClr val="FFC000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6DECFA35-FA05-7780-47DC-4BD629C75141}"/>
              </a:ext>
            </a:extLst>
          </p:cNvPr>
          <p:cNvSpPr txBox="1"/>
          <p:nvPr/>
        </p:nvSpPr>
        <p:spPr>
          <a:xfrm>
            <a:off x="8949340" y="59472"/>
            <a:ext cx="31260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 branch is a movable pointer to the latest commit in a line of history.</a:t>
            </a:r>
          </a:p>
          <a:p>
            <a:pPr algn="ctr"/>
            <a:r>
              <a:rPr lang="en-US" sz="2000" dirty="0"/>
              <a:t>Commits are immutable. Branches move</a:t>
            </a:r>
            <a:endParaRPr lang="en-US" sz="2000" b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C46B7C-5D6E-B40C-C76C-ACE14497A633}"/>
              </a:ext>
            </a:extLst>
          </p:cNvPr>
          <p:cNvSpPr txBox="1"/>
          <p:nvPr/>
        </p:nvSpPr>
        <p:spPr>
          <a:xfrm>
            <a:off x="264015" y="5352183"/>
            <a:ext cx="312605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origin/&lt;branch&gt;</a:t>
            </a:r>
          </a:p>
          <a:p>
            <a:pPr algn="ctr"/>
            <a:r>
              <a:rPr lang="en-US" sz="2000" dirty="0"/>
              <a:t>These represent the last known state of remote branches.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3FDC3C-18AD-05A4-EEE2-B25A5858DD5A}"/>
              </a:ext>
            </a:extLst>
          </p:cNvPr>
          <p:cNvSpPr txBox="1"/>
          <p:nvPr/>
        </p:nvSpPr>
        <p:spPr>
          <a:xfrm>
            <a:off x="9548625" y="5257427"/>
            <a:ext cx="239729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HEAD usually points to the currently active branch or commit 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9C4E29F-FD04-D74F-1F3B-071B763AE3FD}"/>
              </a:ext>
            </a:extLst>
          </p:cNvPr>
          <p:cNvSpPr/>
          <p:nvPr/>
        </p:nvSpPr>
        <p:spPr>
          <a:xfrm>
            <a:off x="1943354" y="3804212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Newer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522CE5A-A9E0-F53B-A018-DD1E737B1B12}"/>
              </a:ext>
            </a:extLst>
          </p:cNvPr>
          <p:cNvSpPr/>
          <p:nvPr/>
        </p:nvSpPr>
        <p:spPr>
          <a:xfrm>
            <a:off x="951097" y="3803523"/>
            <a:ext cx="752404" cy="29188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Older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951EB70-3897-F93F-46BB-4C8318DA4B0D}"/>
              </a:ext>
            </a:extLst>
          </p:cNvPr>
          <p:cNvCxnSpPr>
            <a:stCxn id="37" idx="3"/>
            <a:endCxn id="36" idx="1"/>
          </p:cNvCxnSpPr>
          <p:nvPr/>
        </p:nvCxnSpPr>
        <p:spPr>
          <a:xfrm>
            <a:off x="1703501" y="3949464"/>
            <a:ext cx="239853" cy="68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4387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5FC56-C90A-7E5D-8296-A1AB67BF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– Git branches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E9C559-8E62-77F1-A77B-FF2653DEEA62}"/>
              </a:ext>
            </a:extLst>
          </p:cNvPr>
          <p:cNvSpPr txBox="1"/>
          <p:nvPr/>
        </p:nvSpPr>
        <p:spPr>
          <a:xfrm>
            <a:off x="8095447" y="1500188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branch It will include the arrow to that branch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46BE32-B7C2-8F7C-B0F2-458258288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509" y="1570737"/>
            <a:ext cx="7257247" cy="139164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818C22-0144-622D-B136-8036B083FA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509" y="3563022"/>
            <a:ext cx="7257247" cy="14666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45E7F7-3330-AA9E-726E-2B085C6286CA}"/>
              </a:ext>
            </a:extLst>
          </p:cNvPr>
          <p:cNvSpPr txBox="1"/>
          <p:nvPr/>
        </p:nvSpPr>
        <p:spPr>
          <a:xfrm>
            <a:off x="8095447" y="3563022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points to a commit, it will be listed isolated in the branch list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64B7A0-5081-2F48-CF3A-DC94841B2D40}"/>
              </a:ext>
            </a:extLst>
          </p:cNvPr>
          <p:cNvSpPr/>
          <p:nvPr/>
        </p:nvSpPr>
        <p:spPr>
          <a:xfrm>
            <a:off x="2380519" y="3713871"/>
            <a:ext cx="862083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73410-4BDE-60E3-79FA-226E79583360}"/>
              </a:ext>
            </a:extLst>
          </p:cNvPr>
          <p:cNvCxnSpPr>
            <a:cxnSpLocks/>
            <a:stCxn id="10" idx="1"/>
            <a:endCxn id="11" idx="3"/>
          </p:cNvCxnSpPr>
          <p:nvPr/>
        </p:nvCxnSpPr>
        <p:spPr>
          <a:xfrm flipH="1" flipV="1">
            <a:off x="3242602" y="3819379"/>
            <a:ext cx="4852845" cy="1591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C9BF789C-6B4E-07C4-8F21-F1D6E0A39A40}"/>
              </a:ext>
            </a:extLst>
          </p:cNvPr>
          <p:cNvSpPr/>
          <p:nvPr/>
        </p:nvSpPr>
        <p:spPr>
          <a:xfrm>
            <a:off x="2344959" y="1707010"/>
            <a:ext cx="1007841" cy="2110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C920E81-86FD-BC00-8AB8-E48188309BE6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3342640" y="1812518"/>
            <a:ext cx="4752807" cy="10316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3449BD90-01DC-9809-0169-3A4738FF4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509" y="5371345"/>
            <a:ext cx="7257247" cy="1019671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694311ED-9140-36E1-2F26-0656646488D2}"/>
              </a:ext>
            </a:extLst>
          </p:cNvPr>
          <p:cNvSpPr/>
          <p:nvPr/>
        </p:nvSpPr>
        <p:spPr>
          <a:xfrm>
            <a:off x="1923829" y="5535168"/>
            <a:ext cx="590772" cy="2217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2E29932-17C2-B7AD-B3AA-5E749E7314E9}"/>
              </a:ext>
            </a:extLst>
          </p:cNvPr>
          <p:cNvCxnSpPr>
            <a:cxnSpLocks/>
            <a:stCxn id="29" idx="1"/>
            <a:endCxn id="24" idx="3"/>
          </p:cNvCxnSpPr>
          <p:nvPr/>
        </p:nvCxnSpPr>
        <p:spPr>
          <a:xfrm flipH="1" flipV="1">
            <a:off x="2514601" y="5646039"/>
            <a:ext cx="5580846" cy="2774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ADCB123A-51A4-C54A-1C5E-C8AAE5F2158A}"/>
              </a:ext>
            </a:extLst>
          </p:cNvPr>
          <p:cNvSpPr txBox="1"/>
          <p:nvPr/>
        </p:nvSpPr>
        <p:spPr>
          <a:xfrm>
            <a:off x="8095447" y="5135172"/>
            <a:ext cx="312605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HEAD can point to a commit that do not have a branch there, this use case helps to track past historic states of the repo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0CAD63-FA4E-6B9A-DB01-B48269EB8120}"/>
              </a:ext>
            </a:extLst>
          </p:cNvPr>
          <p:cNvSpPr txBox="1"/>
          <p:nvPr/>
        </p:nvSpPr>
        <p:spPr>
          <a:xfrm>
            <a:off x="8095447" y="243295"/>
            <a:ext cx="3126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When HEAD does not point to a branch, it is known as DETACHED HEAD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F011C297-158A-C429-3109-B7791F9CB083}"/>
              </a:ext>
            </a:extLst>
          </p:cNvPr>
          <p:cNvCxnSpPr>
            <a:stCxn id="34" idx="3"/>
            <a:endCxn id="10" idx="3"/>
          </p:cNvCxnSpPr>
          <p:nvPr/>
        </p:nvCxnSpPr>
        <p:spPr>
          <a:xfrm>
            <a:off x="11221503" y="658794"/>
            <a:ext cx="12700" cy="3319727"/>
          </a:xfrm>
          <a:prstGeom prst="curvedConnector3">
            <a:avLst>
              <a:gd name="adj1" fmla="val 366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FF8AF3B3-5751-ADF2-D8CB-39B8E6EF054C}"/>
              </a:ext>
            </a:extLst>
          </p:cNvPr>
          <p:cNvCxnSpPr>
            <a:cxnSpLocks/>
            <a:stCxn id="34" idx="3"/>
            <a:endCxn id="29" idx="3"/>
          </p:cNvCxnSpPr>
          <p:nvPr/>
        </p:nvCxnSpPr>
        <p:spPr>
          <a:xfrm>
            <a:off x="11221503" y="658794"/>
            <a:ext cx="12700" cy="5014987"/>
          </a:xfrm>
          <a:prstGeom prst="curvedConnector3">
            <a:avLst>
              <a:gd name="adj1" fmla="val 4020000"/>
            </a:avLst>
          </a:prstGeom>
          <a:ln>
            <a:solidFill>
              <a:srgbClr val="FF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49355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99325-7D99-0D9A-C00A-4703FECBBF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05 - Git branches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A4B0E0-C47D-EE53-8BF4-C34349D1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96" y="1772336"/>
            <a:ext cx="9938424" cy="3554044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D839779-4788-67A5-168E-D92EF92C5EB9}"/>
              </a:ext>
            </a:extLst>
          </p:cNvPr>
          <p:cNvSpPr/>
          <p:nvPr/>
        </p:nvSpPr>
        <p:spPr>
          <a:xfrm>
            <a:off x="7377418" y="2041004"/>
            <a:ext cx="2107957" cy="47707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creation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9320EFD-03AE-CE9D-7E66-94B3E208802A}"/>
              </a:ext>
            </a:extLst>
          </p:cNvPr>
          <p:cNvCxnSpPr>
            <a:cxnSpLocks/>
          </p:cNvCxnSpPr>
          <p:nvPr/>
        </p:nvCxnSpPr>
        <p:spPr>
          <a:xfrm flipH="1" flipV="1">
            <a:off x="5374640" y="2222671"/>
            <a:ext cx="2002778" cy="56872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5D9C334-5996-3A14-A017-7450D9F74CF6}"/>
              </a:ext>
            </a:extLst>
          </p:cNvPr>
          <p:cNvSpPr/>
          <p:nvPr/>
        </p:nvSpPr>
        <p:spPr>
          <a:xfrm>
            <a:off x="2968643" y="2113577"/>
            <a:ext cx="240599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39169E8-1AE4-0413-AF96-B5BB0C67A17B}"/>
              </a:ext>
            </a:extLst>
          </p:cNvPr>
          <p:cNvSpPr/>
          <p:nvPr/>
        </p:nvSpPr>
        <p:spPr>
          <a:xfrm>
            <a:off x="7377418" y="2617758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Branch upstream creation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7F267D5-13FC-6BD0-3622-8B8B7CEA4F25}"/>
              </a:ext>
            </a:extLst>
          </p:cNvPr>
          <p:cNvCxnSpPr>
            <a:cxnSpLocks/>
            <a:stCxn id="13" idx="1"/>
            <a:endCxn id="15" idx="3"/>
          </p:cNvCxnSpPr>
          <p:nvPr/>
        </p:nvCxnSpPr>
        <p:spPr>
          <a:xfrm flipH="1" flipV="1">
            <a:off x="5871210" y="2673006"/>
            <a:ext cx="1506208" cy="233025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793C3BC-B919-5438-EBEE-4F1286A5E738}"/>
              </a:ext>
            </a:extLst>
          </p:cNvPr>
          <p:cNvSpPr/>
          <p:nvPr/>
        </p:nvSpPr>
        <p:spPr>
          <a:xfrm>
            <a:off x="2968643" y="2563912"/>
            <a:ext cx="2902567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467E0B-732A-1750-70CE-7879CF9F9097}"/>
              </a:ext>
            </a:extLst>
          </p:cNvPr>
          <p:cNvSpPr/>
          <p:nvPr/>
        </p:nvSpPr>
        <p:spPr>
          <a:xfrm>
            <a:off x="7377418" y="3495582"/>
            <a:ext cx="2107957" cy="57654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HEAD points to new branch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213E321-F8F7-9D1E-B703-C65A772A49FD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21224" y="3783855"/>
            <a:ext cx="356194" cy="690609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71CF0708-AD6B-7E7C-6C6F-06C8D39EC3A3}"/>
              </a:ext>
            </a:extLst>
          </p:cNvPr>
          <p:cNvSpPr/>
          <p:nvPr/>
        </p:nvSpPr>
        <p:spPr>
          <a:xfrm>
            <a:off x="4913267" y="4373406"/>
            <a:ext cx="2115421" cy="2181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F60E11-02C8-1B0A-EF20-F47756F9DB2C}"/>
              </a:ext>
            </a:extLst>
          </p:cNvPr>
          <p:cNvSpPr txBox="1"/>
          <p:nvPr/>
        </p:nvSpPr>
        <p:spPr>
          <a:xfrm>
            <a:off x="5744508" y="5373861"/>
            <a:ext cx="609482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&gt; git branch &lt;branch name&gt;</a:t>
            </a:r>
          </a:p>
          <a:p>
            <a:r>
              <a:rPr lang="en-US" b="1" dirty="0"/>
              <a:t>&gt; git checkout &lt;branch name&gt;</a:t>
            </a:r>
          </a:p>
          <a:p>
            <a:r>
              <a:rPr lang="en-US" b="1" dirty="0"/>
              <a:t>&gt; git push -u origin &lt;branch name&gt;</a:t>
            </a:r>
          </a:p>
        </p:txBody>
      </p:sp>
    </p:spTree>
    <p:extLst>
      <p:ext uri="{BB962C8B-B14F-4D97-AF65-F5344CB8AC3E}">
        <p14:creationId xmlns:p14="http://schemas.microsoft.com/office/powerpoint/2010/main" val="1549609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38739-FFDF-3D9B-B685-DC68DC9A6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06 - Workflow</a:t>
            </a:r>
          </a:p>
        </p:txBody>
      </p:sp>
    </p:spTree>
    <p:extLst>
      <p:ext uri="{BB962C8B-B14F-4D97-AF65-F5344CB8AC3E}">
        <p14:creationId xmlns:p14="http://schemas.microsoft.com/office/powerpoint/2010/main" val="3968576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650</Words>
  <Application>Microsoft Office PowerPoint</Application>
  <PresentationFormat>Widescreen</PresentationFormat>
  <Paragraphs>112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Wingdings</vt:lpstr>
      <vt:lpstr>Office Theme</vt:lpstr>
      <vt:lpstr>Git - GitHub training</vt:lpstr>
      <vt:lpstr>Agenda part 1 - Fundamentals</vt:lpstr>
      <vt:lpstr>01 - Why and what is git</vt:lpstr>
      <vt:lpstr>01 - Why and what is git</vt:lpstr>
      <vt:lpstr>02 - Git use case</vt:lpstr>
      <vt:lpstr>02 – Git use case</vt:lpstr>
      <vt:lpstr>02 – Git use case</vt:lpstr>
      <vt:lpstr>02 – Git use case</vt:lpstr>
      <vt:lpstr>03 – Git commit </vt:lpstr>
      <vt:lpstr>03 – Git commit </vt:lpstr>
      <vt:lpstr>03 – Git commit </vt:lpstr>
      <vt:lpstr>05 – Git branches</vt:lpstr>
      <vt:lpstr>05 – Git branches</vt:lpstr>
      <vt:lpstr>05 - Git branches</vt:lpstr>
      <vt:lpstr>06 - Workflow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Osvaldo G.</dc:creator>
  <cp:lastModifiedBy>Osvaldo G.</cp:lastModifiedBy>
  <cp:revision>2</cp:revision>
  <dcterms:created xsi:type="dcterms:W3CDTF">2026-05-10T20:10:29Z</dcterms:created>
  <dcterms:modified xsi:type="dcterms:W3CDTF">2026-05-10T22:41:42Z</dcterms:modified>
</cp:coreProperties>
</file>